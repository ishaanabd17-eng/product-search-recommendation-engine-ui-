
<file path=[Content_Types].xml><?xml version="1.0" encoding="utf-8"?>
<Types xmlns="http://schemas.openxmlformats.org/package/2006/content-types">
  <Default Extension="fntdata" ContentType="application/x-fontdata"/>
  <Default Extension="jpg"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Bricolage Grotesque ExtraBold" panose="020B0604020202020204" charset="0"/>
      <p:regular r:id="rId13"/>
    </p:embeddedFont>
    <p:embeddedFont>
      <p:font typeface="Montserrat" panose="00000500000000000000" pitchFamily="2" charset="0"/>
      <p:regular r:id="rId14"/>
      <p:bold r:id="rId15"/>
      <p: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2743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82D5E"/>
          </a:solidFill>
          <a:ln/>
        </p:spPr>
      </p:sp>
      <p:sp>
        <p:nvSpPr>
          <p:cNvPr id="3" name="Shape 1"/>
          <p:cNvSpPr/>
          <p:nvPr/>
        </p:nvSpPr>
        <p:spPr>
          <a:xfrm>
            <a:off x="0" y="0"/>
            <a:ext cx="12191695" cy="68580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82D5E"/>
          </a:solidFill>
          <a:ln/>
        </p:spPr>
      </p:sp>
      <p:sp>
        <p:nvSpPr>
          <p:cNvPr id="3" name="Shape 1"/>
          <p:cNvSpPr/>
          <p:nvPr/>
        </p:nvSpPr>
        <p:spPr>
          <a:xfrm>
            <a:off x="0" y="0"/>
            <a:ext cx="12191695" cy="68580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82D5E"/>
          </a:solidFill>
          <a:ln/>
        </p:spPr>
      </p:sp>
      <p:sp>
        <p:nvSpPr>
          <p:cNvPr id="3" name="Shape 1"/>
          <p:cNvSpPr/>
          <p:nvPr/>
        </p:nvSpPr>
        <p:spPr>
          <a:xfrm>
            <a:off x="0" y="0"/>
            <a:ext cx="12191695" cy="68580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82D5E"/>
          </a:solidFill>
          <a:ln/>
        </p:spPr>
      </p:sp>
      <p:sp>
        <p:nvSpPr>
          <p:cNvPr id="3" name="Shape 1"/>
          <p:cNvSpPr/>
          <p:nvPr/>
        </p:nvSpPr>
        <p:spPr>
          <a:xfrm>
            <a:off x="0" y="0"/>
            <a:ext cx="12191695" cy="68580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82D5E"/>
          </a:solidFill>
          <a:ln/>
        </p:spPr>
      </p:sp>
      <p:sp>
        <p:nvSpPr>
          <p:cNvPr id="3" name="Shape 1"/>
          <p:cNvSpPr/>
          <p:nvPr/>
        </p:nvSpPr>
        <p:spPr>
          <a:xfrm>
            <a:off x="0" y="0"/>
            <a:ext cx="12191695" cy="68580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82D5E"/>
          </a:solidFill>
          <a:ln/>
        </p:spPr>
      </p:sp>
      <p:sp>
        <p:nvSpPr>
          <p:cNvPr id="3" name="Shape 1"/>
          <p:cNvSpPr/>
          <p:nvPr/>
        </p:nvSpPr>
        <p:spPr>
          <a:xfrm>
            <a:off x="0" y="0"/>
            <a:ext cx="12191695" cy="68580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82D5E"/>
          </a:solidFill>
          <a:ln/>
        </p:spPr>
      </p:sp>
      <p:sp>
        <p:nvSpPr>
          <p:cNvPr id="3" name="Shape 1"/>
          <p:cNvSpPr/>
          <p:nvPr/>
        </p:nvSpPr>
        <p:spPr>
          <a:xfrm>
            <a:off x="0" y="0"/>
            <a:ext cx="12191695" cy="68580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82D5E"/>
          </a:solidFill>
          <a:ln/>
        </p:spPr>
      </p:sp>
      <p:sp>
        <p:nvSpPr>
          <p:cNvPr id="3" name="Shape 1"/>
          <p:cNvSpPr/>
          <p:nvPr/>
        </p:nvSpPr>
        <p:spPr>
          <a:xfrm>
            <a:off x="0" y="0"/>
            <a:ext cx="12191695" cy="68580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82D5E"/>
          </a:solidFill>
          <a:ln/>
        </p:spPr>
      </p:sp>
      <p:sp>
        <p:nvSpPr>
          <p:cNvPr id="3" name="Shape 1"/>
          <p:cNvSpPr/>
          <p:nvPr/>
        </p:nvSpPr>
        <p:spPr>
          <a:xfrm>
            <a:off x="0" y="0"/>
            <a:ext cx="12191695" cy="68580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82D5E"/>
          </a:solidFill>
          <a:ln/>
        </p:spPr>
      </p:sp>
      <p:sp>
        <p:nvSpPr>
          <p:cNvPr id="3" name="Shape 1"/>
          <p:cNvSpPr/>
          <p:nvPr/>
        </p:nvSpPr>
        <p:spPr>
          <a:xfrm>
            <a:off x="0" y="0"/>
            <a:ext cx="12191695" cy="68580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5.sv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8.sv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0.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7.svg"/><Relationship Id="rId5" Type="http://schemas.openxmlformats.org/officeDocument/2006/relationships/image" Target="../media/image26.sv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696714"/>
            <a:ext cx="9281087" cy="561181"/>
          </a:xfrm>
          <a:prstGeom prst="rect">
            <a:avLst/>
          </a:prstGeom>
          <a:noFill/>
          <a:ln/>
        </p:spPr>
        <p:txBody>
          <a:bodyPr wrap="none" lIns="0" tIns="0" rIns="0" bIns="0" rtlCol="0" anchor="t"/>
          <a:lstStyle/>
          <a:p>
            <a:pPr marL="0" indent="0" algn="l">
              <a:lnSpc>
                <a:spcPct val="104000"/>
              </a:lnSpc>
              <a:buNone/>
            </a:pPr>
            <a:endParaRPr lang="en-US" sz="3500" dirty="0"/>
          </a:p>
        </p:txBody>
      </p:sp>
      <p:sp>
        <p:nvSpPr>
          <p:cNvPr id="3" name="Text 1"/>
          <p:cNvSpPr/>
          <p:nvPr/>
        </p:nvSpPr>
        <p:spPr>
          <a:xfrm>
            <a:off x="661475" y="1326059"/>
            <a:ext cx="2854154" cy="280491"/>
          </a:xfrm>
          <a:prstGeom prst="rect">
            <a:avLst/>
          </a:prstGeom>
          <a:noFill/>
          <a:ln/>
        </p:spPr>
        <p:txBody>
          <a:bodyPr wrap="none" lIns="0" tIns="0" rIns="0" bIns="0" rtlCol="0" anchor="t"/>
          <a:lstStyle/>
          <a:p>
            <a:pPr marL="0" indent="0" algn="l">
              <a:lnSpc>
                <a:spcPct val="104000"/>
              </a:lnSpc>
              <a:buNone/>
            </a:pPr>
            <a:r>
              <a:rPr lang="en-US" sz="1750" dirty="0">
                <a:solidFill>
                  <a:srgbClr val="EEAEF6"/>
                </a:solidFill>
                <a:latin typeface="Bricolage Grotesque ExtraBold" pitchFamily="34" charset="0"/>
                <a:ea typeface="Bricolage Grotesque ExtraBold" pitchFamily="34" charset="-122"/>
                <a:cs typeface="Bricolage Grotesque ExtraBold" pitchFamily="34" charset="-120"/>
              </a:rPr>
              <a:t>By</a:t>
            </a:r>
            <a:endParaRPr lang="en-US" sz="1750" dirty="0"/>
          </a:p>
        </p:txBody>
      </p:sp>
      <p:sp>
        <p:nvSpPr>
          <p:cNvPr id="4" name="Text 2"/>
          <p:cNvSpPr/>
          <p:nvPr/>
        </p:nvSpPr>
        <p:spPr>
          <a:xfrm>
            <a:off x="661475" y="1862435"/>
            <a:ext cx="10868745" cy="752078"/>
          </a:xfrm>
          <a:prstGeom prst="rect">
            <a:avLst/>
          </a:prstGeom>
          <a:noFill/>
          <a:ln/>
        </p:spPr>
        <p:txBody>
          <a:bodyPr wrap="square" lIns="0" tIns="0" rIns="0" bIns="0" rtlCol="0" anchor="t"/>
          <a:lstStyle/>
          <a:p>
            <a:pPr marL="0" indent="0" algn="l">
              <a:lnSpc>
                <a:spcPct val="130000"/>
              </a:lnSpc>
              <a:buNone/>
            </a:pPr>
            <a:r>
              <a:rPr lang="en-US" sz="1400" b="1" dirty="0">
                <a:solidFill>
                  <a:srgbClr val="E5DCE6"/>
                </a:solidFill>
                <a:latin typeface="Montserrat" pitchFamily="34" charset="0"/>
                <a:ea typeface="Montserrat" pitchFamily="34" charset="-122"/>
                <a:cs typeface="Montserrat" pitchFamily="34" charset="-120"/>
              </a:rPr>
              <a:t>Name</a:t>
            </a:r>
            <a:r>
              <a:rPr lang="en-US" sz="1400" dirty="0">
                <a:solidFill>
                  <a:srgbClr val="E5DCE6"/>
                </a:solidFill>
                <a:latin typeface="Montserrat" pitchFamily="34" charset="0"/>
                <a:ea typeface="Montserrat" pitchFamily="34" charset="-122"/>
                <a:cs typeface="Montserrat" pitchFamily="34" charset="-120"/>
              </a:rPr>
              <a:t> Ishaan Kulkarni                                    </a:t>
            </a:r>
            <a:r>
              <a:rPr lang="en-US" sz="1400" b="1" dirty="0">
                <a:solidFill>
                  <a:srgbClr val="E5DCE6"/>
                </a:solidFill>
                <a:latin typeface="Montserrat" pitchFamily="34" charset="0"/>
                <a:ea typeface="Montserrat" pitchFamily="34" charset="-122"/>
                <a:cs typeface="Montserrat" pitchFamily="34" charset="-120"/>
              </a:rPr>
              <a:t>Roll</a:t>
            </a:r>
            <a:r>
              <a:rPr lang="en-US" sz="1400" dirty="0">
                <a:solidFill>
                  <a:srgbClr val="E5DCE6"/>
                </a:solidFill>
                <a:latin typeface="Montserrat" pitchFamily="34" charset="0"/>
                <a:ea typeface="Montserrat" pitchFamily="34" charset="-122"/>
                <a:cs typeface="Montserrat" pitchFamily="34" charset="-120"/>
              </a:rPr>
              <a:t> 2520030267</a:t>
            </a:r>
            <a:endParaRPr lang="en-US" sz="1400" dirty="0"/>
          </a:p>
          <a:p>
            <a:pPr marL="0" indent="0" algn="l">
              <a:lnSpc>
                <a:spcPct val="130000"/>
              </a:lnSpc>
              <a:buNone/>
            </a:pPr>
            <a:r>
              <a:rPr lang="en-US" sz="1400" b="1" dirty="0">
                <a:solidFill>
                  <a:srgbClr val="E5DCE6"/>
                </a:solidFill>
                <a:latin typeface="Montserrat" pitchFamily="34" charset="0"/>
                <a:ea typeface="Montserrat" pitchFamily="34" charset="-122"/>
                <a:cs typeface="Montserrat" pitchFamily="34" charset="-120"/>
              </a:rPr>
              <a:t>Name</a:t>
            </a:r>
            <a:r>
              <a:rPr lang="en-US" sz="1400" dirty="0">
                <a:solidFill>
                  <a:srgbClr val="E5DCE6"/>
                </a:solidFill>
                <a:latin typeface="Montserrat" pitchFamily="34" charset="0"/>
                <a:ea typeface="Montserrat" pitchFamily="34" charset="-122"/>
                <a:cs typeface="Montserrat" pitchFamily="34" charset="-120"/>
              </a:rPr>
              <a:t> Mohammad Faizaan                                    </a:t>
            </a:r>
            <a:r>
              <a:rPr lang="en-US" sz="1400" b="1" dirty="0">
                <a:solidFill>
                  <a:srgbClr val="E5DCE6"/>
                </a:solidFill>
                <a:latin typeface="Montserrat" pitchFamily="34" charset="0"/>
                <a:ea typeface="Montserrat" pitchFamily="34" charset="-122"/>
                <a:cs typeface="Montserrat" pitchFamily="34" charset="-120"/>
              </a:rPr>
              <a:t>Roll</a:t>
            </a:r>
            <a:r>
              <a:rPr lang="en-US" sz="1400" dirty="0">
                <a:solidFill>
                  <a:srgbClr val="E5DCE6"/>
                </a:solidFill>
                <a:latin typeface="Montserrat" pitchFamily="34" charset="0"/>
                <a:ea typeface="Montserrat" pitchFamily="34" charset="-122"/>
                <a:cs typeface="Montserrat" pitchFamily="34" charset="-120"/>
              </a:rPr>
              <a:t> 2520030359````````````````````````````````</a:t>
            </a:r>
            <a:endParaRPr lang="en-US" sz="1400" dirty="0"/>
          </a:p>
        </p:txBody>
      </p:sp>
      <p:sp>
        <p:nvSpPr>
          <p:cNvPr id="5" name="Shape 3"/>
          <p:cNvSpPr/>
          <p:nvPr/>
        </p:nvSpPr>
        <p:spPr>
          <a:xfrm>
            <a:off x="661475" y="2806402"/>
            <a:ext cx="1466913" cy="331589"/>
          </a:xfrm>
          <a:prstGeom prst="roundRect">
            <a:avLst>
              <a:gd name="adj" fmla="val 18196"/>
            </a:avLst>
          </a:prstGeom>
          <a:solidFill>
            <a:srgbClr val="3E0845"/>
          </a:solidFill>
          <a:ln/>
        </p:spPr>
      </p:sp>
      <p:sp>
        <p:nvSpPr>
          <p:cNvPr id="6" name="Text 4"/>
          <p:cNvSpPr/>
          <p:nvPr/>
        </p:nvSpPr>
        <p:spPr>
          <a:xfrm>
            <a:off x="769125" y="2860179"/>
            <a:ext cx="1861198" cy="224036"/>
          </a:xfrm>
          <a:prstGeom prst="rect">
            <a:avLst/>
          </a:prstGeom>
          <a:noFill/>
          <a:ln/>
        </p:spPr>
        <p:txBody>
          <a:bodyPr wrap="none" lIns="0" tIns="0" rIns="0" bIns="0" rtlCol="0" anchor="t"/>
          <a:lstStyle/>
          <a:p>
            <a:pPr marL="0" indent="0" algn="l">
              <a:lnSpc>
                <a:spcPct val="130000"/>
              </a:lnSpc>
              <a:buNone/>
            </a:pPr>
            <a:r>
              <a:rPr lang="en-US" sz="1100" dirty="0">
                <a:solidFill>
                  <a:srgbClr val="E5DCE6"/>
                </a:solidFill>
                <a:latin typeface="Montserrat" pitchFamily="34" charset="0"/>
                <a:ea typeface="Montserrat" pitchFamily="34" charset="-122"/>
                <a:cs typeface="Montserrat" pitchFamily="34" charset="-120"/>
              </a:rPr>
              <a:t>TEAM NUMBER: </a:t>
            </a:r>
            <a:endParaRPr lang="en-US" sz="1100" dirty="0"/>
          </a:p>
        </p:txBody>
      </p:sp>
      <p:sp>
        <p:nvSpPr>
          <p:cNvPr id="7" name="Shape 5"/>
          <p:cNvSpPr/>
          <p:nvPr/>
        </p:nvSpPr>
        <p:spPr>
          <a:xfrm>
            <a:off x="661475" y="3374727"/>
            <a:ext cx="10868745" cy="13395"/>
          </a:xfrm>
          <a:prstGeom prst="rect">
            <a:avLst/>
          </a:prstGeom>
          <a:solidFill>
            <a:srgbClr val="E5DCE6">
              <a:alpha val="50000"/>
            </a:srgbClr>
          </a:solidFill>
          <a:ln/>
        </p:spPr>
      </p:sp>
      <p:sp>
        <p:nvSpPr>
          <p:cNvPr id="8" name="Text 6"/>
          <p:cNvSpPr/>
          <p:nvPr/>
        </p:nvSpPr>
        <p:spPr>
          <a:xfrm>
            <a:off x="661475" y="3624858"/>
            <a:ext cx="10868745" cy="2536329"/>
          </a:xfrm>
          <a:prstGeom prst="rect">
            <a:avLst/>
          </a:prstGeom>
          <a:noFill/>
          <a:ln/>
        </p:spPr>
        <p:txBody>
          <a:bodyPr wrap="square" lIns="0" tIns="0" rIns="0" bIns="0" rtlCol="0" anchor="t"/>
          <a:lstStyle/>
          <a:p>
            <a:pPr marL="0" indent="0" algn="l">
              <a:lnSpc>
                <a:spcPct val="130000"/>
              </a:lnSpc>
              <a:spcAft>
                <a:spcPts val="1500"/>
              </a:spcAft>
              <a:buNone/>
            </a:pPr>
            <a:r>
              <a:rPr lang="en-US" sz="1400" i="1" dirty="0">
                <a:solidFill>
                  <a:srgbClr val="E5DCE6"/>
                </a:solidFill>
                <a:latin typeface="Montserrat" pitchFamily="34" charset="0"/>
                <a:ea typeface="Montserrat" pitchFamily="34" charset="-122"/>
                <a:cs typeface="Montserrat" pitchFamily="34" charset="-120"/>
              </a:rPr>
              <a:t>Under the guidance of</a:t>
            </a:r>
            <a:endParaRPr lang="en-US" sz="1400" dirty="0"/>
          </a:p>
          <a:p>
            <a:pPr marL="0" indent="0" algn="l">
              <a:lnSpc>
                <a:spcPct val="130000"/>
              </a:lnSpc>
              <a:buNone/>
            </a:pPr>
            <a:r>
              <a:rPr lang="en-US" sz="1400" b="1" dirty="0">
                <a:solidFill>
                  <a:srgbClr val="E5DCE6"/>
                </a:solidFill>
                <a:latin typeface="Montserrat" pitchFamily="34" charset="0"/>
              </a:rPr>
              <a:t>Pavithra. D</a:t>
            </a:r>
            <a:endParaRPr lang="en-US" sz="1400" dirty="0"/>
          </a:p>
          <a:p>
            <a:pPr marL="0" indent="0" algn="l">
              <a:lnSpc>
                <a:spcPct val="130000"/>
              </a:lnSpc>
              <a:spcAft>
                <a:spcPts val="1500"/>
              </a:spcAft>
              <a:buNone/>
            </a:pPr>
            <a:r>
              <a:rPr lang="en-US" sz="1400" dirty="0">
                <a:solidFill>
                  <a:srgbClr val="E5DCE6"/>
                </a:solidFill>
                <a:latin typeface="Montserrat" pitchFamily="34" charset="0"/>
                <a:ea typeface="Montserrat" pitchFamily="34" charset="-122"/>
                <a:cs typeface="Montserrat" pitchFamily="34" charset="-120"/>
              </a:rPr>
              <a:t>Assistant Professor</a:t>
            </a:r>
            <a:endParaRPr lang="en-US" sz="1400" dirty="0"/>
          </a:p>
          <a:p>
            <a:pPr marL="0" indent="0" algn="l">
              <a:lnSpc>
                <a:spcPct val="130000"/>
              </a:lnSpc>
              <a:spcAft>
                <a:spcPts val="1500"/>
              </a:spcAft>
              <a:buNone/>
            </a:pPr>
            <a:r>
              <a:rPr lang="en-US" sz="1400" b="1" dirty="0">
                <a:solidFill>
                  <a:srgbClr val="E5DCE6"/>
                </a:solidFill>
                <a:latin typeface="Montserrat" pitchFamily="34" charset="0"/>
                <a:ea typeface="Montserrat" pitchFamily="34" charset="-122"/>
                <a:cs typeface="Montserrat" pitchFamily="34" charset="-120"/>
              </a:rPr>
              <a:t>Department of Computer Science and Engineering</a:t>
            </a:r>
            <a:endParaRPr lang="en-US" sz="1400" dirty="0"/>
          </a:p>
          <a:p>
            <a:pPr marL="0" indent="0" algn="l">
              <a:lnSpc>
                <a:spcPct val="130000"/>
              </a:lnSpc>
              <a:buNone/>
            </a:pPr>
            <a:r>
              <a:rPr lang="en-US" sz="1400" b="1" dirty="0">
                <a:solidFill>
                  <a:srgbClr val="E5DCE6"/>
                </a:solidFill>
                <a:latin typeface="Montserrat" pitchFamily="34" charset="0"/>
                <a:ea typeface="Montserrat" pitchFamily="34" charset="-122"/>
                <a:cs typeface="Montserrat" pitchFamily="34" charset="-120"/>
              </a:rPr>
              <a:t>Koneru Lakshmaiah Education Foundation</a:t>
            </a:r>
            <a:r>
              <a:rPr lang="en-US" sz="1400" dirty="0">
                <a:solidFill>
                  <a:srgbClr val="E5DCE6"/>
                </a:solidFill>
                <a:latin typeface="Montserrat" pitchFamily="34" charset="0"/>
                <a:ea typeface="Montserrat" pitchFamily="34" charset="-122"/>
                <a:cs typeface="Montserrat" pitchFamily="34" charset="-120"/>
              </a:rPr>
              <a:t> (Deemed to be University estd. u/s. 3 of the UGC Act, 1956)</a:t>
            </a:r>
            <a:endParaRPr lang="en-US" sz="1400" dirty="0"/>
          </a:p>
          <a:p>
            <a:pPr marL="0" indent="0" algn="l">
              <a:lnSpc>
                <a:spcPct val="130000"/>
              </a:lnSpc>
              <a:buNone/>
            </a:pPr>
            <a:r>
              <a:rPr lang="en-US" sz="1400" dirty="0">
                <a:solidFill>
                  <a:srgbClr val="E5DCE6"/>
                </a:solidFill>
                <a:latin typeface="Montserrat" pitchFamily="34" charset="0"/>
                <a:ea typeface="Montserrat" pitchFamily="34" charset="-122"/>
                <a:cs typeface="Montserrat" pitchFamily="34" charset="-120"/>
              </a:rPr>
              <a:t>Off-Campus: Bachupally-Gandimaisamma Road, Bowrampet, Hyderabad, Telangana - 500 043.</a:t>
            </a:r>
            <a:endParaRPr lang="en-US" sz="1400" dirty="0"/>
          </a:p>
          <a:p>
            <a:pPr marL="0" indent="0" algn="l">
              <a:lnSpc>
                <a:spcPct val="130000"/>
              </a:lnSpc>
              <a:buNone/>
            </a:pPr>
            <a:r>
              <a:rPr lang="en-US" sz="1400" dirty="0">
                <a:solidFill>
                  <a:srgbClr val="E5DCE6"/>
                </a:solidFill>
                <a:latin typeface="Montserrat" pitchFamily="34" charset="0"/>
                <a:ea typeface="Montserrat" pitchFamily="34" charset="-122"/>
                <a:cs typeface="Montserrat" pitchFamily="34" charset="-120"/>
              </a:rPr>
              <a:t>Phone No: 7815926816, www.klh.edu.in</a:t>
            </a:r>
            <a:endParaRPr lang="en-US" sz="1400" dirty="0"/>
          </a:p>
        </p:txBody>
      </p:sp>
      <p:sp>
        <p:nvSpPr>
          <p:cNvPr id="9" name="TextBox 8">
            <a:extLst>
              <a:ext uri="{FF2B5EF4-FFF2-40B4-BE49-F238E27FC236}">
                <a16:creationId xmlns:a16="http://schemas.microsoft.com/office/drawing/2014/main" id="{ADACDE7E-9F87-45B1-B180-4A5338ADBAC6}"/>
              </a:ext>
            </a:extLst>
          </p:cNvPr>
          <p:cNvSpPr txBox="1"/>
          <p:nvPr/>
        </p:nvSpPr>
        <p:spPr>
          <a:xfrm>
            <a:off x="989045" y="576620"/>
            <a:ext cx="10011747" cy="369332"/>
          </a:xfrm>
          <a:prstGeom prst="rect">
            <a:avLst/>
          </a:prstGeom>
          <a:noFill/>
        </p:spPr>
        <p:txBody>
          <a:bodyPr wrap="square" rtlCol="0">
            <a:spAutoFit/>
          </a:bodyPr>
          <a:lstStyle/>
          <a:p>
            <a:r>
              <a:rPr lang="en-US" dirty="0">
                <a:solidFill>
                  <a:schemeClr val="bg1"/>
                </a:solidFill>
              </a:rPr>
              <a:t>A PROJECT REVIEW MEETING ON PRODUCT SEARCH AND RECCOMENDATION SYSTEM</a:t>
            </a:r>
            <a:endParaRPr lang="en-IN" dirty="0">
              <a:solidFill>
                <a:schemeClr val="bg1"/>
              </a:solidFill>
            </a:endParaRPr>
          </a:p>
        </p:txBody>
      </p:sp>
      <p:pic>
        <p:nvPicPr>
          <p:cNvPr id="10" name="Picture 9">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92014" y="-41801"/>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143198"/>
            <a:ext cx="6897217" cy="590649"/>
          </a:xfrm>
          <a:prstGeom prst="rect">
            <a:avLst/>
          </a:prstGeom>
          <a:noFill/>
          <a:ln/>
        </p:spPr>
        <p:txBody>
          <a:bodyPr wrap="none" lIns="0" tIns="0" rIns="0" bIns="0" rtlCol="0" anchor="t"/>
          <a:lstStyle/>
          <a:p>
            <a:pPr marL="0" indent="0" algn="l">
              <a:lnSpc>
                <a:spcPct val="104000"/>
              </a:lnSpc>
              <a:buNone/>
            </a:pPr>
            <a:r>
              <a:rPr lang="en-US" sz="3700" dirty="0">
                <a:solidFill>
                  <a:srgbClr val="EEAEF6"/>
                </a:solidFill>
                <a:latin typeface="Bricolage Grotesque ExtraBold" pitchFamily="34" charset="0"/>
                <a:ea typeface="Bricolage Grotesque ExtraBold" pitchFamily="34" charset="-122"/>
                <a:cs typeface="Bricolage Grotesque ExtraBold" pitchFamily="34" charset="-120"/>
              </a:rPr>
              <a:t>Outline of the Presentation</a:t>
            </a:r>
            <a:endParaRPr lang="en-US" sz="3700" dirty="0"/>
          </a:p>
        </p:txBody>
      </p:sp>
      <p:sp>
        <p:nvSpPr>
          <p:cNvPr id="3" name="Text 1"/>
          <p:cNvSpPr/>
          <p:nvPr/>
        </p:nvSpPr>
        <p:spPr>
          <a:xfrm>
            <a:off x="661475" y="2111871"/>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E5DCE6"/>
                </a:solidFill>
                <a:latin typeface="Bricolage Grotesque Light" pitchFamily="34" charset="0"/>
                <a:ea typeface="Bricolage Grotesque Light" pitchFamily="34" charset="-122"/>
                <a:cs typeface="Bricolage Grotesque Light" pitchFamily="34" charset="-120"/>
              </a:rPr>
              <a:t>01</a:t>
            </a:r>
            <a:endParaRPr lang="en-US" sz="1450" dirty="0"/>
          </a:p>
        </p:txBody>
      </p:sp>
      <p:sp>
        <p:nvSpPr>
          <p:cNvPr id="4" name="Shape 2"/>
          <p:cNvSpPr/>
          <p:nvPr/>
        </p:nvSpPr>
        <p:spPr>
          <a:xfrm>
            <a:off x="661475" y="2407741"/>
            <a:ext cx="3496877" cy="25400"/>
          </a:xfrm>
          <a:prstGeom prst="rect">
            <a:avLst/>
          </a:prstGeom>
          <a:solidFill>
            <a:srgbClr val="EEAEF6"/>
          </a:solidFill>
          <a:ln/>
        </p:spPr>
      </p:sp>
      <p:sp>
        <p:nvSpPr>
          <p:cNvPr id="5" name="Text 3"/>
          <p:cNvSpPr/>
          <p:nvPr/>
        </p:nvSpPr>
        <p:spPr>
          <a:xfrm>
            <a:off x="661475" y="2552998"/>
            <a:ext cx="2362637" cy="295275"/>
          </a:xfrm>
          <a:prstGeom prst="rect">
            <a:avLst/>
          </a:prstGeom>
          <a:noFill/>
          <a:ln/>
        </p:spPr>
        <p:txBody>
          <a:bodyPr wrap="none" lIns="0" tIns="0" rIns="0" bIns="0" rtlCol="0" anchor="t"/>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Abstract</a:t>
            </a:r>
            <a:endParaRPr lang="en-US" sz="1850" dirty="0"/>
          </a:p>
        </p:txBody>
      </p:sp>
      <p:sp>
        <p:nvSpPr>
          <p:cNvPr id="6" name="Text 4"/>
          <p:cNvSpPr/>
          <p:nvPr/>
        </p:nvSpPr>
        <p:spPr>
          <a:xfrm>
            <a:off x="4347359" y="2111871"/>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E5DCE6"/>
                </a:solidFill>
                <a:latin typeface="Bricolage Grotesque Light" pitchFamily="34" charset="0"/>
                <a:ea typeface="Bricolage Grotesque Light" pitchFamily="34" charset="-122"/>
                <a:cs typeface="Bricolage Grotesque Light" pitchFamily="34" charset="-120"/>
              </a:rPr>
              <a:t>02</a:t>
            </a:r>
            <a:endParaRPr lang="en-US" sz="1450" dirty="0"/>
          </a:p>
        </p:txBody>
      </p:sp>
      <p:sp>
        <p:nvSpPr>
          <p:cNvPr id="7" name="Shape 5"/>
          <p:cNvSpPr/>
          <p:nvPr/>
        </p:nvSpPr>
        <p:spPr>
          <a:xfrm>
            <a:off x="4347359" y="2407741"/>
            <a:ext cx="3496877" cy="25400"/>
          </a:xfrm>
          <a:prstGeom prst="rect">
            <a:avLst/>
          </a:prstGeom>
          <a:solidFill>
            <a:srgbClr val="EEAEF6"/>
          </a:solidFill>
          <a:ln/>
        </p:spPr>
      </p:sp>
      <p:sp>
        <p:nvSpPr>
          <p:cNvPr id="8" name="Text 6"/>
          <p:cNvSpPr/>
          <p:nvPr/>
        </p:nvSpPr>
        <p:spPr>
          <a:xfrm>
            <a:off x="4347359" y="2552998"/>
            <a:ext cx="2362637" cy="295275"/>
          </a:xfrm>
          <a:prstGeom prst="rect">
            <a:avLst/>
          </a:prstGeom>
          <a:noFill/>
          <a:ln/>
        </p:spPr>
        <p:txBody>
          <a:bodyPr wrap="none" lIns="0" tIns="0" rIns="0" bIns="0" rtlCol="0" anchor="t"/>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Introduction</a:t>
            </a:r>
            <a:endParaRPr lang="en-US" sz="1850" dirty="0"/>
          </a:p>
        </p:txBody>
      </p:sp>
      <p:sp>
        <p:nvSpPr>
          <p:cNvPr id="9" name="Text 7"/>
          <p:cNvSpPr/>
          <p:nvPr/>
        </p:nvSpPr>
        <p:spPr>
          <a:xfrm>
            <a:off x="8033244" y="2111871"/>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E5DCE6"/>
                </a:solidFill>
                <a:latin typeface="Bricolage Grotesque Light" pitchFamily="34" charset="0"/>
                <a:ea typeface="Bricolage Grotesque Light" pitchFamily="34" charset="-122"/>
                <a:cs typeface="Bricolage Grotesque Light" pitchFamily="34" charset="-120"/>
              </a:rPr>
              <a:t>03</a:t>
            </a:r>
            <a:endParaRPr lang="en-US" sz="1450" dirty="0"/>
          </a:p>
        </p:txBody>
      </p:sp>
      <p:sp>
        <p:nvSpPr>
          <p:cNvPr id="10" name="Shape 8"/>
          <p:cNvSpPr/>
          <p:nvPr/>
        </p:nvSpPr>
        <p:spPr>
          <a:xfrm>
            <a:off x="8033244" y="2407741"/>
            <a:ext cx="3496877" cy="25400"/>
          </a:xfrm>
          <a:prstGeom prst="rect">
            <a:avLst/>
          </a:prstGeom>
          <a:solidFill>
            <a:srgbClr val="EEAEF6"/>
          </a:solidFill>
          <a:ln/>
        </p:spPr>
      </p:sp>
      <p:sp>
        <p:nvSpPr>
          <p:cNvPr id="11" name="Text 9"/>
          <p:cNvSpPr/>
          <p:nvPr/>
        </p:nvSpPr>
        <p:spPr>
          <a:xfrm>
            <a:off x="8033244" y="2552998"/>
            <a:ext cx="2362637" cy="295275"/>
          </a:xfrm>
          <a:prstGeom prst="rect">
            <a:avLst/>
          </a:prstGeom>
          <a:noFill/>
          <a:ln/>
        </p:spPr>
        <p:txBody>
          <a:bodyPr wrap="none" lIns="0" tIns="0" rIns="0" bIns="0" rtlCol="0" anchor="t"/>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Problem Statement</a:t>
            </a:r>
            <a:endParaRPr lang="en-US" sz="1850" dirty="0"/>
          </a:p>
        </p:txBody>
      </p:sp>
      <p:sp>
        <p:nvSpPr>
          <p:cNvPr id="12" name="Text 10"/>
          <p:cNvSpPr/>
          <p:nvPr/>
        </p:nvSpPr>
        <p:spPr>
          <a:xfrm>
            <a:off x="661475" y="3178969"/>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E5DCE6"/>
                </a:solidFill>
                <a:latin typeface="Bricolage Grotesque Light" pitchFamily="34" charset="0"/>
                <a:ea typeface="Bricolage Grotesque Light" pitchFamily="34" charset="-122"/>
                <a:cs typeface="Bricolage Grotesque Light" pitchFamily="34" charset="-120"/>
              </a:rPr>
              <a:t>04</a:t>
            </a:r>
            <a:endParaRPr lang="en-US" sz="1450" dirty="0"/>
          </a:p>
        </p:txBody>
      </p:sp>
      <p:sp>
        <p:nvSpPr>
          <p:cNvPr id="13" name="Shape 11"/>
          <p:cNvSpPr/>
          <p:nvPr/>
        </p:nvSpPr>
        <p:spPr>
          <a:xfrm>
            <a:off x="661475" y="3474839"/>
            <a:ext cx="3496877" cy="25400"/>
          </a:xfrm>
          <a:prstGeom prst="rect">
            <a:avLst/>
          </a:prstGeom>
          <a:solidFill>
            <a:srgbClr val="EEAEF6"/>
          </a:solidFill>
          <a:ln/>
        </p:spPr>
      </p:sp>
      <p:sp>
        <p:nvSpPr>
          <p:cNvPr id="14" name="Text 12"/>
          <p:cNvSpPr/>
          <p:nvPr/>
        </p:nvSpPr>
        <p:spPr>
          <a:xfrm>
            <a:off x="661475" y="3620095"/>
            <a:ext cx="2496976" cy="295275"/>
          </a:xfrm>
          <a:prstGeom prst="rect">
            <a:avLst/>
          </a:prstGeom>
          <a:noFill/>
          <a:ln/>
        </p:spPr>
        <p:txBody>
          <a:bodyPr wrap="none" lIns="0" tIns="0" rIns="0" bIns="0" rtlCol="0" anchor="t"/>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Project Flow Diagram</a:t>
            </a:r>
            <a:endParaRPr lang="en-US" sz="1850" dirty="0"/>
          </a:p>
        </p:txBody>
      </p:sp>
      <p:sp>
        <p:nvSpPr>
          <p:cNvPr id="15" name="Text 13"/>
          <p:cNvSpPr/>
          <p:nvPr/>
        </p:nvSpPr>
        <p:spPr>
          <a:xfrm>
            <a:off x="4347359" y="3178969"/>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E5DCE6"/>
                </a:solidFill>
                <a:latin typeface="Bricolage Grotesque Light" pitchFamily="34" charset="0"/>
                <a:ea typeface="Bricolage Grotesque Light" pitchFamily="34" charset="-122"/>
                <a:cs typeface="Bricolage Grotesque Light" pitchFamily="34" charset="-120"/>
              </a:rPr>
              <a:t>05</a:t>
            </a:r>
            <a:endParaRPr lang="en-US" sz="1450" dirty="0"/>
          </a:p>
        </p:txBody>
      </p:sp>
      <p:sp>
        <p:nvSpPr>
          <p:cNvPr id="16" name="Shape 14"/>
          <p:cNvSpPr/>
          <p:nvPr/>
        </p:nvSpPr>
        <p:spPr>
          <a:xfrm>
            <a:off x="4347359" y="3474839"/>
            <a:ext cx="3496877" cy="25400"/>
          </a:xfrm>
          <a:prstGeom prst="rect">
            <a:avLst/>
          </a:prstGeom>
          <a:solidFill>
            <a:srgbClr val="EEAEF6"/>
          </a:solidFill>
          <a:ln/>
        </p:spPr>
      </p:sp>
      <p:sp>
        <p:nvSpPr>
          <p:cNvPr id="17" name="Text 15"/>
          <p:cNvSpPr/>
          <p:nvPr/>
        </p:nvSpPr>
        <p:spPr>
          <a:xfrm>
            <a:off x="4347359" y="3620095"/>
            <a:ext cx="3296461" cy="295275"/>
          </a:xfrm>
          <a:prstGeom prst="rect">
            <a:avLst/>
          </a:prstGeom>
          <a:noFill/>
          <a:ln/>
        </p:spPr>
        <p:txBody>
          <a:bodyPr wrap="none" lIns="0" tIns="0" rIns="0" bIns="0" rtlCol="0" anchor="t"/>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Objectives with Justification</a:t>
            </a:r>
            <a:endParaRPr lang="en-US" sz="1850" dirty="0"/>
          </a:p>
        </p:txBody>
      </p:sp>
      <p:sp>
        <p:nvSpPr>
          <p:cNvPr id="18" name="Text 16"/>
          <p:cNvSpPr/>
          <p:nvPr/>
        </p:nvSpPr>
        <p:spPr>
          <a:xfrm>
            <a:off x="8033244" y="3178969"/>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E5DCE6"/>
                </a:solidFill>
                <a:latin typeface="Bricolage Grotesque Light" pitchFamily="34" charset="0"/>
                <a:ea typeface="Bricolage Grotesque Light" pitchFamily="34" charset="-122"/>
                <a:cs typeface="Bricolage Grotesque Light" pitchFamily="34" charset="-120"/>
              </a:rPr>
              <a:t>06</a:t>
            </a:r>
            <a:endParaRPr lang="en-US" sz="1450" dirty="0"/>
          </a:p>
        </p:txBody>
      </p:sp>
      <p:sp>
        <p:nvSpPr>
          <p:cNvPr id="19" name="Shape 17"/>
          <p:cNvSpPr/>
          <p:nvPr/>
        </p:nvSpPr>
        <p:spPr>
          <a:xfrm>
            <a:off x="8033244" y="3474839"/>
            <a:ext cx="3496877" cy="25400"/>
          </a:xfrm>
          <a:prstGeom prst="rect">
            <a:avLst/>
          </a:prstGeom>
          <a:solidFill>
            <a:srgbClr val="EEAEF6"/>
          </a:solidFill>
          <a:ln/>
        </p:spPr>
      </p:sp>
      <p:sp>
        <p:nvSpPr>
          <p:cNvPr id="20" name="Text 18"/>
          <p:cNvSpPr/>
          <p:nvPr/>
        </p:nvSpPr>
        <p:spPr>
          <a:xfrm>
            <a:off x="8033244" y="3620095"/>
            <a:ext cx="3496877"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Modules [Frontend web pages]</a:t>
            </a:r>
            <a:endParaRPr lang="en-US" sz="1850" dirty="0"/>
          </a:p>
        </p:txBody>
      </p:sp>
      <p:sp>
        <p:nvSpPr>
          <p:cNvPr id="21" name="Text 19"/>
          <p:cNvSpPr/>
          <p:nvPr/>
        </p:nvSpPr>
        <p:spPr>
          <a:xfrm>
            <a:off x="661475" y="4541341"/>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E5DCE6"/>
                </a:solidFill>
                <a:latin typeface="Bricolage Grotesque Light" pitchFamily="34" charset="0"/>
                <a:ea typeface="Bricolage Grotesque Light" pitchFamily="34" charset="-122"/>
                <a:cs typeface="Bricolage Grotesque Light" pitchFamily="34" charset="-120"/>
              </a:rPr>
              <a:t>07</a:t>
            </a:r>
            <a:endParaRPr lang="en-US" sz="1450" dirty="0"/>
          </a:p>
        </p:txBody>
      </p:sp>
      <p:sp>
        <p:nvSpPr>
          <p:cNvPr id="22" name="Shape 20"/>
          <p:cNvSpPr/>
          <p:nvPr/>
        </p:nvSpPr>
        <p:spPr>
          <a:xfrm>
            <a:off x="661475" y="4837212"/>
            <a:ext cx="3496877" cy="25400"/>
          </a:xfrm>
          <a:prstGeom prst="rect">
            <a:avLst/>
          </a:prstGeom>
          <a:solidFill>
            <a:srgbClr val="EEAEF6"/>
          </a:solidFill>
          <a:ln/>
        </p:spPr>
      </p:sp>
      <p:sp>
        <p:nvSpPr>
          <p:cNvPr id="23" name="Text 21"/>
          <p:cNvSpPr/>
          <p:nvPr/>
        </p:nvSpPr>
        <p:spPr>
          <a:xfrm>
            <a:off x="661475" y="4982468"/>
            <a:ext cx="3496877"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Expected Outcomes of the Proposed Work</a:t>
            </a:r>
            <a:endParaRPr lang="en-US" sz="1850" dirty="0"/>
          </a:p>
        </p:txBody>
      </p:sp>
      <p:sp>
        <p:nvSpPr>
          <p:cNvPr id="24" name="Text 22"/>
          <p:cNvSpPr/>
          <p:nvPr/>
        </p:nvSpPr>
        <p:spPr>
          <a:xfrm>
            <a:off x="4347359" y="4541341"/>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E5DCE6"/>
                </a:solidFill>
                <a:latin typeface="Bricolage Grotesque Light" pitchFamily="34" charset="0"/>
                <a:ea typeface="Bricolage Grotesque Light" pitchFamily="34" charset="-122"/>
                <a:cs typeface="Bricolage Grotesque Light" pitchFamily="34" charset="-120"/>
              </a:rPr>
              <a:t>08</a:t>
            </a:r>
            <a:endParaRPr lang="en-US" sz="1450" dirty="0"/>
          </a:p>
        </p:txBody>
      </p:sp>
      <p:sp>
        <p:nvSpPr>
          <p:cNvPr id="25" name="Shape 23"/>
          <p:cNvSpPr/>
          <p:nvPr/>
        </p:nvSpPr>
        <p:spPr>
          <a:xfrm>
            <a:off x="4347359" y="4837212"/>
            <a:ext cx="3496877" cy="25400"/>
          </a:xfrm>
          <a:prstGeom prst="rect">
            <a:avLst/>
          </a:prstGeom>
          <a:solidFill>
            <a:srgbClr val="EEAEF6"/>
          </a:solidFill>
          <a:ln/>
        </p:spPr>
      </p:sp>
      <p:sp>
        <p:nvSpPr>
          <p:cNvPr id="26" name="Text 24"/>
          <p:cNvSpPr/>
          <p:nvPr/>
        </p:nvSpPr>
        <p:spPr>
          <a:xfrm>
            <a:off x="4347359" y="4982468"/>
            <a:ext cx="2362637" cy="295275"/>
          </a:xfrm>
          <a:prstGeom prst="rect">
            <a:avLst/>
          </a:prstGeom>
          <a:noFill/>
          <a:ln/>
        </p:spPr>
        <p:txBody>
          <a:bodyPr wrap="none" lIns="0" tIns="0" rIns="0" bIns="0" rtlCol="0" anchor="t"/>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Conclusion</a:t>
            </a:r>
            <a:endParaRPr lang="en-US" sz="1850" dirty="0"/>
          </a:p>
        </p:txBody>
      </p:sp>
      <p:sp>
        <p:nvSpPr>
          <p:cNvPr id="27" name="Text 25"/>
          <p:cNvSpPr/>
          <p:nvPr/>
        </p:nvSpPr>
        <p:spPr>
          <a:xfrm>
            <a:off x="8033244" y="4541341"/>
            <a:ext cx="378014" cy="236240"/>
          </a:xfrm>
          <a:prstGeom prst="rect">
            <a:avLst/>
          </a:prstGeom>
          <a:noFill/>
          <a:ln/>
        </p:spPr>
        <p:txBody>
          <a:bodyPr wrap="none" lIns="0" tIns="0" rIns="0" bIns="0" rtlCol="0" anchor="ctr"/>
          <a:lstStyle/>
          <a:p>
            <a:pPr marL="0" indent="0" algn="l">
              <a:lnSpc>
                <a:spcPct val="100000"/>
              </a:lnSpc>
              <a:buNone/>
            </a:pPr>
            <a:r>
              <a:rPr lang="en-US" sz="1450" dirty="0">
                <a:solidFill>
                  <a:srgbClr val="E5DCE6"/>
                </a:solidFill>
                <a:latin typeface="Bricolage Grotesque Light" pitchFamily="34" charset="0"/>
                <a:ea typeface="Bricolage Grotesque Light" pitchFamily="34" charset="-122"/>
                <a:cs typeface="Bricolage Grotesque Light" pitchFamily="34" charset="-120"/>
              </a:rPr>
              <a:t>09</a:t>
            </a:r>
            <a:endParaRPr lang="en-US" sz="1450" dirty="0"/>
          </a:p>
        </p:txBody>
      </p:sp>
      <p:sp>
        <p:nvSpPr>
          <p:cNvPr id="28" name="Shape 26"/>
          <p:cNvSpPr/>
          <p:nvPr/>
        </p:nvSpPr>
        <p:spPr>
          <a:xfrm>
            <a:off x="8033244" y="4837212"/>
            <a:ext cx="3496877" cy="25400"/>
          </a:xfrm>
          <a:prstGeom prst="rect">
            <a:avLst/>
          </a:prstGeom>
          <a:solidFill>
            <a:srgbClr val="EEAEF6"/>
          </a:solidFill>
          <a:ln/>
        </p:spPr>
      </p:sp>
      <p:sp>
        <p:nvSpPr>
          <p:cNvPr id="29" name="Text 27"/>
          <p:cNvSpPr/>
          <p:nvPr/>
        </p:nvSpPr>
        <p:spPr>
          <a:xfrm>
            <a:off x="8033244" y="4982468"/>
            <a:ext cx="2362637" cy="295275"/>
          </a:xfrm>
          <a:prstGeom prst="rect">
            <a:avLst/>
          </a:prstGeom>
          <a:noFill/>
          <a:ln/>
        </p:spPr>
        <p:txBody>
          <a:bodyPr wrap="none" lIns="0" tIns="0" rIns="0" bIns="0" rtlCol="0" anchor="t"/>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References</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391215" y="0"/>
            <a:ext cx="4800480" cy="6858000"/>
          </a:xfrm>
          <a:prstGeom prst="rect">
            <a:avLst/>
          </a:prstGeom>
        </p:spPr>
      </p:pic>
      <p:sp>
        <p:nvSpPr>
          <p:cNvPr id="3" name="Text 0"/>
          <p:cNvSpPr/>
          <p:nvPr/>
        </p:nvSpPr>
        <p:spPr>
          <a:xfrm>
            <a:off x="651156" y="567134"/>
            <a:ext cx="5261141" cy="581422"/>
          </a:xfrm>
          <a:prstGeom prst="rect">
            <a:avLst/>
          </a:prstGeom>
          <a:noFill/>
          <a:ln/>
        </p:spPr>
        <p:txBody>
          <a:bodyPr wrap="none" lIns="0" tIns="0" rIns="0" bIns="0" rtlCol="0" anchor="t"/>
          <a:lstStyle/>
          <a:p>
            <a:pPr marL="0" indent="0" algn="l">
              <a:lnSpc>
                <a:spcPct val="104000"/>
              </a:lnSpc>
              <a:buNone/>
            </a:pPr>
            <a:r>
              <a:rPr lang="en-US" sz="3650" dirty="0">
                <a:solidFill>
                  <a:srgbClr val="EEAEF6"/>
                </a:solidFill>
                <a:latin typeface="Bricolage Grotesque ExtraBold" pitchFamily="34" charset="0"/>
                <a:ea typeface="Bricolage Grotesque ExtraBold" pitchFamily="34" charset="-122"/>
                <a:cs typeface="Bricolage Grotesque ExtraBold" pitchFamily="34" charset="-120"/>
              </a:rPr>
              <a:t>Abstract</a:t>
            </a:r>
            <a:endParaRPr lang="en-US" sz="365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5757" y="1423293"/>
            <a:ext cx="6342896" cy="2489795"/>
          </a:xfrm>
          <a:prstGeom prst="rect">
            <a:avLst/>
          </a:prstGeom>
        </p:spPr>
      </p:pic>
      <p:sp>
        <p:nvSpPr>
          <p:cNvPr id="5" name="Text 1"/>
          <p:cNvSpPr/>
          <p:nvPr/>
        </p:nvSpPr>
        <p:spPr>
          <a:xfrm>
            <a:off x="938784" y="1634728"/>
            <a:ext cx="5818439" cy="2066925"/>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E5DCE6"/>
                </a:solidFill>
                <a:latin typeface="Montserrat" pitchFamily="34" charset="0"/>
                <a:ea typeface="Montserrat" pitchFamily="34" charset="-122"/>
                <a:cs typeface="Montserrat" pitchFamily="34" charset="-120"/>
              </a:rPr>
              <a:t>The Smart Product Search and Recommendation Engine is a web-based platform designed to simplify online product discovery. Instead of searching across multiple e-commerce websites individually, users can search for a product once and receive consolidated results from various trusted platforms. The system identifies available products, compares prices, and presents the best purchasing options to users.</a:t>
            </a:r>
            <a:endParaRPr lang="en-US" sz="1450" dirty="0"/>
          </a:p>
        </p:txBody>
      </p:sp>
      <p:pic>
        <p:nvPicPr>
          <p:cNvPr id="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5757" y="4096246"/>
            <a:ext cx="6342896" cy="2194520"/>
          </a:xfrm>
          <a:prstGeom prst="rect">
            <a:avLst/>
          </a:prstGeom>
        </p:spPr>
      </p:pic>
      <p:sp>
        <p:nvSpPr>
          <p:cNvPr id="7" name="Text 2"/>
          <p:cNvSpPr/>
          <p:nvPr/>
        </p:nvSpPr>
        <p:spPr>
          <a:xfrm>
            <a:off x="938784" y="4307681"/>
            <a:ext cx="5818439" cy="177165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E5DCE6"/>
                </a:solidFill>
                <a:latin typeface="Montserrat" pitchFamily="34" charset="0"/>
                <a:ea typeface="Montserrat" pitchFamily="34" charset="-122"/>
                <a:cs typeface="Montserrat" pitchFamily="34" charset="-120"/>
              </a:rPr>
              <a:t>Additionally, the platform maintains user search history and utilizes recommendation techniques to display personalized product suggestions on the home page. The project aims to improve convenience, reduce search effort, and enhance the online shopping experience through a centralized product discovery interface.</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711398"/>
            <a:ext cx="4626157" cy="502047"/>
          </a:xfrm>
          <a:prstGeom prst="rect">
            <a:avLst/>
          </a:prstGeom>
          <a:noFill/>
          <a:ln/>
        </p:spPr>
        <p:txBody>
          <a:bodyPr wrap="none" lIns="0" tIns="0" rIns="0" bIns="0" rtlCol="0" anchor="t"/>
          <a:lstStyle/>
          <a:p>
            <a:pPr marL="0" indent="0" algn="l">
              <a:lnSpc>
                <a:spcPct val="104000"/>
              </a:lnSpc>
              <a:buNone/>
            </a:pPr>
            <a:r>
              <a:rPr lang="en-US" sz="3150" dirty="0">
                <a:solidFill>
                  <a:srgbClr val="EEAEF6"/>
                </a:solidFill>
                <a:latin typeface="Bricolage Grotesque ExtraBold" pitchFamily="34" charset="0"/>
                <a:ea typeface="Bricolage Grotesque ExtraBold" pitchFamily="34" charset="-122"/>
                <a:cs typeface="Bricolage Grotesque ExtraBold" pitchFamily="34" charset="-120"/>
              </a:rPr>
              <a:t>Introduction</a:t>
            </a:r>
            <a:endParaRPr lang="en-US" sz="3150" dirty="0"/>
          </a:p>
        </p:txBody>
      </p:sp>
      <p:pic>
        <p:nvPicPr>
          <p:cNvPr id="3" name="Image 0" descr="preencoded.png"/>
          <p:cNvPicPr>
            <a:picLocks noChangeAspect="1"/>
          </p:cNvPicPr>
          <p:nvPr/>
        </p:nvPicPr>
        <p:blipFill>
          <a:blip r:embed="rId3"/>
          <a:stretch>
            <a:fillRect/>
          </a:stretch>
        </p:blipFill>
        <p:spPr>
          <a:xfrm>
            <a:off x="661475" y="2114054"/>
            <a:ext cx="5888287" cy="3336727"/>
          </a:xfrm>
          <a:prstGeom prst="rect">
            <a:avLst/>
          </a:prstGeom>
        </p:spPr>
      </p:pic>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68158" y="1571823"/>
            <a:ext cx="3568313" cy="2023467"/>
          </a:xfrm>
          <a:prstGeom prst="rect">
            <a:avLst/>
          </a:prstGeom>
        </p:spPr>
      </p:pic>
      <p:sp>
        <p:nvSpPr>
          <p:cNvPr id="5" name="Text 1"/>
          <p:cNvSpPr/>
          <p:nvPr/>
        </p:nvSpPr>
        <p:spPr>
          <a:xfrm>
            <a:off x="8224036" y="1751509"/>
            <a:ext cx="3132754" cy="1664097"/>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E5DCE6"/>
                </a:solidFill>
                <a:latin typeface="Montserrat" pitchFamily="34" charset="0"/>
                <a:ea typeface="Montserrat" pitchFamily="34" charset="-122"/>
                <a:cs typeface="Montserrat" pitchFamily="34" charset="-120"/>
              </a:rPr>
              <a:t>Online shoppers often visit multiple websites such as Amazon, Flipkart, Myntra, and other marketplaces to compare prices and availability. This process is time-consuming and inefficient, especially for niche or less common products.</a:t>
            </a:r>
            <a:endParaRPr lang="en-US" sz="1250" dirty="0"/>
          </a:p>
        </p:txBody>
      </p:sp>
      <p:pic>
        <p:nvPicPr>
          <p:cNvPr id="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68158" y="3731816"/>
            <a:ext cx="3568313" cy="2261195"/>
          </a:xfrm>
          <a:prstGeom prst="rect">
            <a:avLst/>
          </a:prstGeom>
        </p:spPr>
      </p:pic>
      <p:sp>
        <p:nvSpPr>
          <p:cNvPr id="7" name="Text 2"/>
          <p:cNvSpPr/>
          <p:nvPr/>
        </p:nvSpPr>
        <p:spPr>
          <a:xfrm>
            <a:off x="8224036" y="3911501"/>
            <a:ext cx="3132754" cy="1901825"/>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E5DCE6"/>
                </a:solidFill>
                <a:latin typeface="Montserrat" pitchFamily="34" charset="0"/>
                <a:ea typeface="Montserrat" pitchFamily="34" charset="-122"/>
                <a:cs typeface="Montserrat" pitchFamily="34" charset="-120"/>
              </a:rPr>
              <a:t>The proposed system provides a unified platform where users can search once and obtain product information from multiple trusted sources. The platform also generates personalized recommendations based on previous searches and browsing behavior.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1156" y="554633"/>
            <a:ext cx="4796015" cy="523379"/>
          </a:xfrm>
          <a:prstGeom prst="rect">
            <a:avLst/>
          </a:prstGeom>
          <a:noFill/>
          <a:ln/>
        </p:spPr>
        <p:txBody>
          <a:bodyPr wrap="none" lIns="0" tIns="0" rIns="0" bIns="0" rtlCol="0" anchor="t"/>
          <a:lstStyle/>
          <a:p>
            <a:pPr marL="0" indent="0" algn="l">
              <a:lnSpc>
                <a:spcPct val="104000"/>
              </a:lnSpc>
              <a:buNone/>
            </a:pPr>
            <a:r>
              <a:rPr lang="en-US" sz="3250" dirty="0">
                <a:solidFill>
                  <a:srgbClr val="EEAEF6"/>
                </a:solidFill>
                <a:latin typeface="Bricolage Grotesque ExtraBold" pitchFamily="34" charset="0"/>
                <a:ea typeface="Bricolage Grotesque ExtraBold" pitchFamily="34" charset="-122"/>
                <a:cs typeface="Bricolage Grotesque ExtraBold" pitchFamily="34" charset="-120"/>
              </a:rPr>
              <a:t>Problem Statement</a:t>
            </a:r>
            <a:endParaRPr lang="en-US" sz="3250" dirty="0"/>
          </a:p>
        </p:txBody>
      </p:sp>
      <p:pic>
        <p:nvPicPr>
          <p:cNvPr id="3" name="Image 0" descr="preencoded.png"/>
          <p:cNvPicPr>
            <a:picLocks noChangeAspect="1"/>
          </p:cNvPicPr>
          <p:nvPr/>
        </p:nvPicPr>
        <p:blipFill>
          <a:blip r:embed="rId3"/>
          <a:stretch>
            <a:fillRect/>
          </a:stretch>
        </p:blipFill>
        <p:spPr>
          <a:xfrm>
            <a:off x="651156" y="2033488"/>
            <a:ext cx="6241497" cy="3536851"/>
          </a:xfrm>
          <a:prstGeom prst="rect">
            <a:avLst/>
          </a:prstGeom>
        </p:spPr>
      </p:pic>
      <p:sp>
        <p:nvSpPr>
          <p:cNvPr id="4" name="Shape 1"/>
          <p:cNvSpPr/>
          <p:nvPr/>
        </p:nvSpPr>
        <p:spPr>
          <a:xfrm>
            <a:off x="8001097" y="1467346"/>
            <a:ext cx="3545692" cy="2765623"/>
          </a:xfrm>
          <a:prstGeom prst="roundRect">
            <a:avLst>
              <a:gd name="adj" fmla="val 2543"/>
            </a:avLst>
          </a:prstGeom>
          <a:solidFill>
            <a:srgbClr val="282D5E"/>
          </a:solidFill>
          <a:ln/>
        </p:spPr>
      </p:sp>
      <p:sp>
        <p:nvSpPr>
          <p:cNvPr id="5" name="Text 2"/>
          <p:cNvSpPr/>
          <p:nvPr/>
        </p:nvSpPr>
        <p:spPr>
          <a:xfrm>
            <a:off x="8168475" y="1634728"/>
            <a:ext cx="2093166" cy="261640"/>
          </a:xfrm>
          <a:prstGeom prst="rect">
            <a:avLst/>
          </a:prstGeom>
          <a:noFill/>
          <a:ln/>
        </p:spPr>
        <p:txBody>
          <a:bodyPr wrap="none" lIns="0" tIns="0" rIns="0" bIns="0" rtlCol="0" anchor="t"/>
          <a:lstStyle/>
          <a:p>
            <a:pPr marL="0" indent="0" algn="l">
              <a:lnSpc>
                <a:spcPct val="104000"/>
              </a:lnSpc>
              <a:buNone/>
            </a:pPr>
            <a:r>
              <a:rPr lang="en-US" sz="1600" dirty="0">
                <a:solidFill>
                  <a:srgbClr val="E5DCE6"/>
                </a:solidFill>
                <a:latin typeface="Bricolage Grotesque ExtraBold" pitchFamily="34" charset="0"/>
                <a:ea typeface="Bricolage Grotesque ExtraBold" pitchFamily="34" charset="-122"/>
                <a:cs typeface="Bricolage Grotesque ExtraBold" pitchFamily="34" charset="-120"/>
              </a:rPr>
              <a:t>The Challenge</a:t>
            </a:r>
            <a:endParaRPr lang="en-US" sz="1600" dirty="0"/>
          </a:p>
        </p:txBody>
      </p:sp>
      <p:sp>
        <p:nvSpPr>
          <p:cNvPr id="6" name="Text 3"/>
          <p:cNvSpPr/>
          <p:nvPr/>
        </p:nvSpPr>
        <p:spPr>
          <a:xfrm>
            <a:off x="8168475" y="2044700"/>
            <a:ext cx="3210936" cy="2020887"/>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E5DCE6"/>
                </a:solidFill>
                <a:latin typeface="Montserrat" pitchFamily="34" charset="0"/>
                <a:ea typeface="Montserrat" pitchFamily="34" charset="-122"/>
                <a:cs typeface="Montserrat" pitchFamily="34" charset="-120"/>
              </a:rPr>
              <a:t>Consumers spend significant time comparing products across different e-commerce platforms. There is currently no simple centralized interface that allows users to discover products, compare prices, and receive personalized recommendations from multiple trusted sources.</a:t>
            </a:r>
            <a:endParaRPr lang="en-US" sz="1300" dirty="0"/>
          </a:p>
        </p:txBody>
      </p:sp>
      <p:sp>
        <p:nvSpPr>
          <p:cNvPr id="7" name="Shape 4"/>
          <p:cNvSpPr/>
          <p:nvPr/>
        </p:nvSpPr>
        <p:spPr>
          <a:xfrm>
            <a:off x="8001097" y="4381302"/>
            <a:ext cx="3545692" cy="1755180"/>
          </a:xfrm>
          <a:prstGeom prst="roundRect">
            <a:avLst>
              <a:gd name="adj" fmla="val 4007"/>
            </a:avLst>
          </a:prstGeom>
          <a:solidFill>
            <a:srgbClr val="282D5E"/>
          </a:solidFill>
          <a:ln/>
        </p:spPr>
      </p:sp>
      <p:sp>
        <p:nvSpPr>
          <p:cNvPr id="8" name="Text 5"/>
          <p:cNvSpPr/>
          <p:nvPr/>
        </p:nvSpPr>
        <p:spPr>
          <a:xfrm>
            <a:off x="8168475" y="4548684"/>
            <a:ext cx="2093166" cy="261640"/>
          </a:xfrm>
          <a:prstGeom prst="rect">
            <a:avLst/>
          </a:prstGeom>
          <a:noFill/>
          <a:ln/>
        </p:spPr>
        <p:txBody>
          <a:bodyPr wrap="none" lIns="0" tIns="0" rIns="0" bIns="0" rtlCol="0" anchor="t"/>
          <a:lstStyle/>
          <a:p>
            <a:pPr marL="0" indent="0" algn="l">
              <a:lnSpc>
                <a:spcPct val="104000"/>
              </a:lnSpc>
              <a:buNone/>
            </a:pPr>
            <a:r>
              <a:rPr lang="en-US" sz="1600" dirty="0">
                <a:solidFill>
                  <a:srgbClr val="E5DCE6"/>
                </a:solidFill>
                <a:latin typeface="Bricolage Grotesque ExtraBold" pitchFamily="34" charset="0"/>
                <a:ea typeface="Bricolage Grotesque ExtraBold" pitchFamily="34" charset="-122"/>
                <a:cs typeface="Bricolage Grotesque ExtraBold" pitchFamily="34" charset="-120"/>
              </a:rPr>
              <a:t>The Objective</a:t>
            </a:r>
            <a:endParaRPr lang="en-US" sz="1600" dirty="0"/>
          </a:p>
        </p:txBody>
      </p:sp>
      <p:sp>
        <p:nvSpPr>
          <p:cNvPr id="9" name="Text 6"/>
          <p:cNvSpPr/>
          <p:nvPr/>
        </p:nvSpPr>
        <p:spPr>
          <a:xfrm>
            <a:off x="8168475" y="4958655"/>
            <a:ext cx="3210936" cy="1010444"/>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E5DCE6"/>
                </a:solidFill>
                <a:latin typeface="Montserrat" pitchFamily="34" charset="0"/>
                <a:ea typeface="Montserrat" pitchFamily="34" charset="-122"/>
                <a:cs typeface="Montserrat" pitchFamily="34" charset="-120"/>
              </a:rPr>
              <a:t>The objective is to develop a platform that aggregates product information and simplifies product discovery through a single search interface.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1156" y="516731"/>
            <a:ext cx="5527834" cy="581422"/>
          </a:xfrm>
          <a:prstGeom prst="rect">
            <a:avLst/>
          </a:prstGeom>
          <a:noFill/>
          <a:ln/>
        </p:spPr>
        <p:txBody>
          <a:bodyPr wrap="none" lIns="0" tIns="0" rIns="0" bIns="0" rtlCol="0" anchor="t"/>
          <a:lstStyle/>
          <a:p>
            <a:pPr marL="0" indent="0" algn="l">
              <a:lnSpc>
                <a:spcPct val="104000"/>
              </a:lnSpc>
              <a:buNone/>
            </a:pPr>
            <a:r>
              <a:rPr lang="en-US" sz="3650" dirty="0">
                <a:solidFill>
                  <a:srgbClr val="EEAEF6"/>
                </a:solidFill>
                <a:latin typeface="Bricolage Grotesque ExtraBold" pitchFamily="34" charset="0"/>
                <a:ea typeface="Bricolage Grotesque ExtraBold" pitchFamily="34" charset="-122"/>
                <a:cs typeface="Bricolage Grotesque ExtraBold" pitchFamily="34" charset="-120"/>
              </a:rPr>
              <a:t>Project Flow Diagram</a:t>
            </a:r>
            <a:endParaRPr lang="en-US" sz="3650" dirty="0"/>
          </a:p>
        </p:txBody>
      </p:sp>
      <p:pic>
        <p:nvPicPr>
          <p:cNvPr id="3" name="Image 0" descr="preencoded.png"/>
          <p:cNvPicPr>
            <a:picLocks noChangeAspect="1"/>
          </p:cNvPicPr>
          <p:nvPr/>
        </p:nvPicPr>
        <p:blipFill>
          <a:blip r:embed="rId3"/>
          <a:stretch>
            <a:fillRect/>
          </a:stretch>
        </p:blipFill>
        <p:spPr>
          <a:xfrm>
            <a:off x="651156" y="1464469"/>
            <a:ext cx="8737381" cy="4876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51156" y="552549"/>
            <a:ext cx="5153987" cy="406995"/>
          </a:xfrm>
          <a:prstGeom prst="rect">
            <a:avLst/>
          </a:prstGeom>
          <a:noFill/>
          <a:ln/>
        </p:spPr>
        <p:txBody>
          <a:bodyPr wrap="none" lIns="0" tIns="0" rIns="0" bIns="0" rtlCol="0" anchor="t"/>
          <a:lstStyle/>
          <a:p>
            <a:pPr marL="0" indent="0" algn="l">
              <a:lnSpc>
                <a:spcPct val="104000"/>
              </a:lnSpc>
              <a:buNone/>
            </a:pPr>
            <a:r>
              <a:rPr lang="en-US" sz="2550" dirty="0">
                <a:solidFill>
                  <a:srgbClr val="EEAEF6"/>
                </a:solidFill>
                <a:latin typeface="Bricolage Grotesque ExtraBold" pitchFamily="34" charset="0"/>
                <a:ea typeface="Bricolage Grotesque ExtraBold" pitchFamily="34" charset="-122"/>
                <a:cs typeface="Bricolage Grotesque ExtraBold" pitchFamily="34" charset="-120"/>
              </a:rPr>
              <a:t>Objectives with Justification</a:t>
            </a:r>
            <a:endParaRPr lang="en-US" sz="25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1156" y="1139031"/>
            <a:ext cx="10889382" cy="961529"/>
          </a:xfrm>
          <a:prstGeom prst="rect">
            <a:avLst/>
          </a:prstGeom>
        </p:spPr>
      </p:pic>
      <p:sp>
        <p:nvSpPr>
          <p:cNvPr id="4" name="Text 1"/>
          <p:cNvSpPr/>
          <p:nvPr/>
        </p:nvSpPr>
        <p:spPr>
          <a:xfrm>
            <a:off x="832921" y="1497707"/>
            <a:ext cx="195357" cy="244177"/>
          </a:xfrm>
          <a:prstGeom prst="rect">
            <a:avLst/>
          </a:prstGeom>
          <a:noFill/>
          <a:ln/>
        </p:spPr>
        <p:txBody>
          <a:bodyPr wrap="none" lIns="0" tIns="0" rIns="0" bIns="0" rtlCol="0" anchor="ctr"/>
          <a:lstStyle/>
          <a:p>
            <a:pPr marL="0" indent="0" algn="ctr">
              <a:lnSpc>
                <a:spcPct val="100000"/>
              </a:lnSpc>
              <a:buNone/>
            </a:pPr>
            <a:r>
              <a:rPr lang="en-US" sz="1500" dirty="0">
                <a:solidFill>
                  <a:srgbClr val="E5DCE6"/>
                </a:solidFill>
                <a:latin typeface="Bricolage Grotesque ExtraBold" pitchFamily="34" charset="0"/>
                <a:ea typeface="Bricolage Grotesque ExtraBold" pitchFamily="34" charset="-122"/>
                <a:cs typeface="Bricolage Grotesque ExtraBold" pitchFamily="34" charset="-120"/>
              </a:rPr>
              <a:t>1</a:t>
            </a:r>
            <a:endParaRPr lang="en-US" sz="1500" dirty="0"/>
          </a:p>
        </p:txBody>
      </p:sp>
      <p:sp>
        <p:nvSpPr>
          <p:cNvPr id="5" name="Text 2"/>
          <p:cNvSpPr/>
          <p:nvPr/>
        </p:nvSpPr>
        <p:spPr>
          <a:xfrm>
            <a:off x="1280783" y="1288256"/>
            <a:ext cx="1628040" cy="203498"/>
          </a:xfrm>
          <a:prstGeom prst="rect">
            <a:avLst/>
          </a:prstGeom>
          <a:noFill/>
          <a:ln/>
        </p:spPr>
        <p:txBody>
          <a:bodyPr wrap="none" lIns="0" tIns="0" rIns="0" bIns="0" rtlCol="0" anchor="t"/>
          <a:lstStyle/>
          <a:p>
            <a:pPr marL="0" indent="0" algn="l">
              <a:lnSpc>
                <a:spcPct val="104000"/>
              </a:lnSpc>
              <a:buNone/>
            </a:pPr>
            <a:r>
              <a:rPr lang="en-US" sz="1250" dirty="0">
                <a:solidFill>
                  <a:srgbClr val="E5DCE6"/>
                </a:solidFill>
                <a:latin typeface="Bricolage Grotesque ExtraBold" pitchFamily="34" charset="0"/>
                <a:ea typeface="Bricolage Grotesque ExtraBold" pitchFamily="34" charset="-122"/>
                <a:cs typeface="Bricolage Grotesque ExtraBold" pitchFamily="34" charset="-120"/>
              </a:rPr>
              <a:t>Objective 1</a:t>
            </a:r>
            <a:endParaRPr lang="en-US" sz="1250" dirty="0"/>
          </a:p>
        </p:txBody>
      </p:sp>
      <p:sp>
        <p:nvSpPr>
          <p:cNvPr id="6" name="Text 3"/>
          <p:cNvSpPr/>
          <p:nvPr/>
        </p:nvSpPr>
        <p:spPr>
          <a:xfrm>
            <a:off x="1280783" y="1545530"/>
            <a:ext cx="10110535" cy="405805"/>
          </a:xfrm>
          <a:prstGeom prst="rect">
            <a:avLst/>
          </a:prstGeom>
          <a:noFill/>
          <a:ln/>
        </p:spPr>
        <p:txBody>
          <a:bodyPr wrap="square" lIns="0" tIns="0" rIns="0" bIns="0" rtlCol="0" anchor="t"/>
          <a:lstStyle/>
          <a:p>
            <a:pPr marL="0" indent="0" algn="l">
              <a:lnSpc>
                <a:spcPct val="113000"/>
              </a:lnSpc>
              <a:spcAft>
                <a:spcPts val="400"/>
              </a:spcAft>
              <a:buNone/>
            </a:pPr>
            <a:r>
              <a:rPr lang="en-US" sz="1000" dirty="0">
                <a:solidFill>
                  <a:srgbClr val="E5DCE6"/>
                </a:solidFill>
                <a:latin typeface="Montserrat" pitchFamily="34" charset="0"/>
                <a:ea typeface="Montserrat" pitchFamily="34" charset="-122"/>
                <a:cs typeface="Montserrat" pitchFamily="34" charset="-120"/>
              </a:rPr>
              <a:t>Develop a centralized product search interface.</a:t>
            </a:r>
            <a:endParaRPr lang="en-US" sz="1000" dirty="0"/>
          </a:p>
          <a:p>
            <a:pPr marL="0" indent="0" algn="l">
              <a:lnSpc>
                <a:spcPct val="113000"/>
              </a:lnSpc>
              <a:buNone/>
            </a:pPr>
            <a:r>
              <a:rPr lang="en-US" sz="1000" b="1" dirty="0">
                <a:solidFill>
                  <a:srgbClr val="E5DCE6"/>
                </a:solidFill>
                <a:latin typeface="Montserrat" pitchFamily="34" charset="0"/>
                <a:ea typeface="Montserrat" pitchFamily="34" charset="-122"/>
                <a:cs typeface="Montserrat" pitchFamily="34" charset="-120"/>
              </a:rPr>
              <a:t>Justification:</a:t>
            </a:r>
            <a:r>
              <a:rPr lang="en-US" sz="1000" dirty="0">
                <a:solidFill>
                  <a:srgbClr val="E5DCE6"/>
                </a:solidFill>
                <a:latin typeface="Montserrat" pitchFamily="34" charset="0"/>
                <a:ea typeface="Montserrat" pitchFamily="34" charset="-122"/>
                <a:cs typeface="Montserrat" pitchFamily="34" charset="-120"/>
              </a:rPr>
              <a:t> Reduces the need to visit multiple websites.</a:t>
            </a:r>
            <a:endParaRPr lang="en-US" sz="10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1156" y="2190254"/>
            <a:ext cx="10889382" cy="961529"/>
          </a:xfrm>
          <a:prstGeom prst="rect">
            <a:avLst/>
          </a:prstGeom>
        </p:spPr>
      </p:pic>
      <p:sp>
        <p:nvSpPr>
          <p:cNvPr id="8" name="Text 4"/>
          <p:cNvSpPr/>
          <p:nvPr/>
        </p:nvSpPr>
        <p:spPr>
          <a:xfrm>
            <a:off x="832921" y="2548930"/>
            <a:ext cx="195357" cy="244177"/>
          </a:xfrm>
          <a:prstGeom prst="rect">
            <a:avLst/>
          </a:prstGeom>
          <a:noFill/>
          <a:ln/>
        </p:spPr>
        <p:txBody>
          <a:bodyPr wrap="none" lIns="0" tIns="0" rIns="0" bIns="0" rtlCol="0" anchor="ctr"/>
          <a:lstStyle/>
          <a:p>
            <a:pPr marL="0" indent="0" algn="ctr">
              <a:lnSpc>
                <a:spcPct val="100000"/>
              </a:lnSpc>
              <a:buNone/>
            </a:pPr>
            <a:r>
              <a:rPr lang="en-US" sz="1500" dirty="0">
                <a:solidFill>
                  <a:srgbClr val="E5DCE6"/>
                </a:solidFill>
                <a:latin typeface="Bricolage Grotesque ExtraBold" pitchFamily="34" charset="0"/>
                <a:ea typeface="Bricolage Grotesque ExtraBold" pitchFamily="34" charset="-122"/>
                <a:cs typeface="Bricolage Grotesque ExtraBold" pitchFamily="34" charset="-120"/>
              </a:rPr>
              <a:t>2</a:t>
            </a:r>
            <a:endParaRPr lang="en-US" sz="1500" dirty="0"/>
          </a:p>
        </p:txBody>
      </p:sp>
      <p:sp>
        <p:nvSpPr>
          <p:cNvPr id="9" name="Text 5"/>
          <p:cNvSpPr/>
          <p:nvPr/>
        </p:nvSpPr>
        <p:spPr>
          <a:xfrm>
            <a:off x="1280783" y="2339479"/>
            <a:ext cx="1628040" cy="203498"/>
          </a:xfrm>
          <a:prstGeom prst="rect">
            <a:avLst/>
          </a:prstGeom>
          <a:noFill/>
          <a:ln/>
        </p:spPr>
        <p:txBody>
          <a:bodyPr wrap="none" lIns="0" tIns="0" rIns="0" bIns="0" rtlCol="0" anchor="t"/>
          <a:lstStyle/>
          <a:p>
            <a:pPr marL="0" indent="0" algn="l">
              <a:lnSpc>
                <a:spcPct val="104000"/>
              </a:lnSpc>
              <a:buNone/>
            </a:pPr>
            <a:r>
              <a:rPr lang="en-US" sz="1250" dirty="0">
                <a:solidFill>
                  <a:srgbClr val="E5DCE6"/>
                </a:solidFill>
                <a:latin typeface="Bricolage Grotesque ExtraBold" pitchFamily="34" charset="0"/>
                <a:ea typeface="Bricolage Grotesque ExtraBold" pitchFamily="34" charset="-122"/>
                <a:cs typeface="Bricolage Grotesque ExtraBold" pitchFamily="34" charset="-120"/>
              </a:rPr>
              <a:t>Objective 2</a:t>
            </a:r>
            <a:endParaRPr lang="en-US" sz="1250" dirty="0"/>
          </a:p>
        </p:txBody>
      </p:sp>
      <p:sp>
        <p:nvSpPr>
          <p:cNvPr id="10" name="Text 6"/>
          <p:cNvSpPr/>
          <p:nvPr/>
        </p:nvSpPr>
        <p:spPr>
          <a:xfrm>
            <a:off x="1280783" y="2596753"/>
            <a:ext cx="10110535" cy="405805"/>
          </a:xfrm>
          <a:prstGeom prst="rect">
            <a:avLst/>
          </a:prstGeom>
          <a:noFill/>
          <a:ln/>
        </p:spPr>
        <p:txBody>
          <a:bodyPr wrap="square" lIns="0" tIns="0" rIns="0" bIns="0" rtlCol="0" anchor="t"/>
          <a:lstStyle/>
          <a:p>
            <a:pPr marL="0" indent="0" algn="l">
              <a:lnSpc>
                <a:spcPct val="113000"/>
              </a:lnSpc>
              <a:spcAft>
                <a:spcPts val="400"/>
              </a:spcAft>
              <a:buNone/>
            </a:pPr>
            <a:r>
              <a:rPr lang="en-US" sz="1000" dirty="0">
                <a:solidFill>
                  <a:srgbClr val="E5DCE6"/>
                </a:solidFill>
                <a:latin typeface="Montserrat" pitchFamily="34" charset="0"/>
                <a:ea typeface="Montserrat" pitchFamily="34" charset="-122"/>
                <a:cs typeface="Montserrat" pitchFamily="34" charset="-120"/>
              </a:rPr>
              <a:t>Implement multi-platform product comparison.</a:t>
            </a:r>
            <a:endParaRPr lang="en-US" sz="1000" dirty="0"/>
          </a:p>
          <a:p>
            <a:pPr marL="0" indent="0" algn="l">
              <a:lnSpc>
                <a:spcPct val="113000"/>
              </a:lnSpc>
              <a:buNone/>
            </a:pPr>
            <a:r>
              <a:rPr lang="en-US" sz="1000" b="1" dirty="0">
                <a:solidFill>
                  <a:srgbClr val="E5DCE6"/>
                </a:solidFill>
                <a:latin typeface="Montserrat" pitchFamily="34" charset="0"/>
                <a:ea typeface="Montserrat" pitchFamily="34" charset="-122"/>
                <a:cs typeface="Montserrat" pitchFamily="34" charset="-120"/>
              </a:rPr>
              <a:t>Justification:</a:t>
            </a:r>
            <a:r>
              <a:rPr lang="en-US" sz="1000" dirty="0">
                <a:solidFill>
                  <a:srgbClr val="E5DCE6"/>
                </a:solidFill>
                <a:latin typeface="Montserrat" pitchFamily="34" charset="0"/>
                <a:ea typeface="Montserrat" pitchFamily="34" charset="-122"/>
                <a:cs typeface="Montserrat" pitchFamily="34" charset="-120"/>
              </a:rPr>
              <a:t> Helps users identify the best available deals.</a:t>
            </a:r>
            <a:endParaRPr lang="en-US" sz="10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1156" y="3241477"/>
            <a:ext cx="10889382" cy="961529"/>
          </a:xfrm>
          <a:prstGeom prst="rect">
            <a:avLst/>
          </a:prstGeom>
        </p:spPr>
      </p:pic>
      <p:sp>
        <p:nvSpPr>
          <p:cNvPr id="12" name="Text 7"/>
          <p:cNvSpPr/>
          <p:nvPr/>
        </p:nvSpPr>
        <p:spPr>
          <a:xfrm>
            <a:off x="832921" y="3600152"/>
            <a:ext cx="195357" cy="244177"/>
          </a:xfrm>
          <a:prstGeom prst="rect">
            <a:avLst/>
          </a:prstGeom>
          <a:noFill/>
          <a:ln/>
        </p:spPr>
        <p:txBody>
          <a:bodyPr wrap="none" lIns="0" tIns="0" rIns="0" bIns="0" rtlCol="0" anchor="ctr"/>
          <a:lstStyle/>
          <a:p>
            <a:pPr marL="0" indent="0" algn="ctr">
              <a:lnSpc>
                <a:spcPct val="100000"/>
              </a:lnSpc>
              <a:buNone/>
            </a:pPr>
            <a:r>
              <a:rPr lang="en-US" sz="1500" dirty="0">
                <a:solidFill>
                  <a:srgbClr val="E5DCE6"/>
                </a:solidFill>
                <a:latin typeface="Bricolage Grotesque ExtraBold" pitchFamily="34" charset="0"/>
                <a:ea typeface="Bricolage Grotesque ExtraBold" pitchFamily="34" charset="-122"/>
                <a:cs typeface="Bricolage Grotesque ExtraBold" pitchFamily="34" charset="-120"/>
              </a:rPr>
              <a:t>3</a:t>
            </a:r>
            <a:endParaRPr lang="en-US" sz="1500" dirty="0"/>
          </a:p>
        </p:txBody>
      </p:sp>
      <p:sp>
        <p:nvSpPr>
          <p:cNvPr id="13" name="Text 8"/>
          <p:cNvSpPr/>
          <p:nvPr/>
        </p:nvSpPr>
        <p:spPr>
          <a:xfrm>
            <a:off x="1280783" y="3390702"/>
            <a:ext cx="1628040" cy="203498"/>
          </a:xfrm>
          <a:prstGeom prst="rect">
            <a:avLst/>
          </a:prstGeom>
          <a:noFill/>
          <a:ln/>
        </p:spPr>
        <p:txBody>
          <a:bodyPr wrap="none" lIns="0" tIns="0" rIns="0" bIns="0" rtlCol="0" anchor="t"/>
          <a:lstStyle/>
          <a:p>
            <a:pPr marL="0" indent="0" algn="l">
              <a:lnSpc>
                <a:spcPct val="104000"/>
              </a:lnSpc>
              <a:buNone/>
            </a:pPr>
            <a:r>
              <a:rPr lang="en-US" sz="1250" dirty="0">
                <a:solidFill>
                  <a:srgbClr val="E5DCE6"/>
                </a:solidFill>
                <a:latin typeface="Bricolage Grotesque ExtraBold" pitchFamily="34" charset="0"/>
                <a:ea typeface="Bricolage Grotesque ExtraBold" pitchFamily="34" charset="-122"/>
                <a:cs typeface="Bricolage Grotesque ExtraBold" pitchFamily="34" charset="-120"/>
              </a:rPr>
              <a:t>Objective 3</a:t>
            </a:r>
            <a:endParaRPr lang="en-US" sz="1250" dirty="0"/>
          </a:p>
        </p:txBody>
      </p:sp>
      <p:sp>
        <p:nvSpPr>
          <p:cNvPr id="14" name="Text 9"/>
          <p:cNvSpPr/>
          <p:nvPr/>
        </p:nvSpPr>
        <p:spPr>
          <a:xfrm>
            <a:off x="1280783" y="3647976"/>
            <a:ext cx="10110535" cy="405805"/>
          </a:xfrm>
          <a:prstGeom prst="rect">
            <a:avLst/>
          </a:prstGeom>
          <a:noFill/>
          <a:ln/>
        </p:spPr>
        <p:txBody>
          <a:bodyPr wrap="square" lIns="0" tIns="0" rIns="0" bIns="0" rtlCol="0" anchor="t"/>
          <a:lstStyle/>
          <a:p>
            <a:pPr marL="0" indent="0" algn="l">
              <a:lnSpc>
                <a:spcPct val="113000"/>
              </a:lnSpc>
              <a:spcAft>
                <a:spcPts val="400"/>
              </a:spcAft>
              <a:buNone/>
            </a:pPr>
            <a:r>
              <a:rPr lang="en-US" sz="1000" dirty="0">
                <a:solidFill>
                  <a:srgbClr val="E5DCE6"/>
                </a:solidFill>
                <a:latin typeface="Montserrat" pitchFamily="34" charset="0"/>
                <a:ea typeface="Montserrat" pitchFamily="34" charset="-122"/>
                <a:cs typeface="Montserrat" pitchFamily="34" charset="-120"/>
              </a:rPr>
              <a:t>Provide personalized recommendations.</a:t>
            </a:r>
            <a:endParaRPr lang="en-US" sz="1000" dirty="0"/>
          </a:p>
          <a:p>
            <a:pPr marL="0" indent="0" algn="l">
              <a:lnSpc>
                <a:spcPct val="113000"/>
              </a:lnSpc>
              <a:buNone/>
            </a:pPr>
            <a:r>
              <a:rPr lang="en-US" sz="1000" b="1" dirty="0">
                <a:solidFill>
                  <a:srgbClr val="E5DCE6"/>
                </a:solidFill>
                <a:latin typeface="Montserrat" pitchFamily="34" charset="0"/>
                <a:ea typeface="Montserrat" pitchFamily="34" charset="-122"/>
                <a:cs typeface="Montserrat" pitchFamily="34" charset="-120"/>
              </a:rPr>
              <a:t>Justification:</a:t>
            </a:r>
            <a:r>
              <a:rPr lang="en-US" sz="1000" dirty="0">
                <a:solidFill>
                  <a:srgbClr val="E5DCE6"/>
                </a:solidFill>
                <a:latin typeface="Montserrat" pitchFamily="34" charset="0"/>
                <a:ea typeface="Montserrat" pitchFamily="34" charset="-122"/>
                <a:cs typeface="Montserrat" pitchFamily="34" charset="-120"/>
              </a:rPr>
              <a:t> Improves user engagement and relevance.</a:t>
            </a:r>
            <a:endParaRPr lang="en-US" sz="100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1156" y="4292699"/>
            <a:ext cx="10889382" cy="961529"/>
          </a:xfrm>
          <a:prstGeom prst="rect">
            <a:avLst/>
          </a:prstGeom>
        </p:spPr>
      </p:pic>
      <p:sp>
        <p:nvSpPr>
          <p:cNvPr id="16" name="Text 10"/>
          <p:cNvSpPr/>
          <p:nvPr/>
        </p:nvSpPr>
        <p:spPr>
          <a:xfrm>
            <a:off x="832921" y="4651375"/>
            <a:ext cx="195357" cy="244177"/>
          </a:xfrm>
          <a:prstGeom prst="rect">
            <a:avLst/>
          </a:prstGeom>
          <a:noFill/>
          <a:ln/>
        </p:spPr>
        <p:txBody>
          <a:bodyPr wrap="none" lIns="0" tIns="0" rIns="0" bIns="0" rtlCol="0" anchor="ctr"/>
          <a:lstStyle/>
          <a:p>
            <a:pPr marL="0" indent="0" algn="ctr">
              <a:lnSpc>
                <a:spcPct val="100000"/>
              </a:lnSpc>
              <a:buNone/>
            </a:pPr>
            <a:r>
              <a:rPr lang="en-US" sz="1500" dirty="0">
                <a:solidFill>
                  <a:srgbClr val="E5DCE6"/>
                </a:solidFill>
                <a:latin typeface="Bricolage Grotesque ExtraBold" pitchFamily="34" charset="0"/>
                <a:ea typeface="Bricolage Grotesque ExtraBold" pitchFamily="34" charset="-122"/>
                <a:cs typeface="Bricolage Grotesque ExtraBold" pitchFamily="34" charset="-120"/>
              </a:rPr>
              <a:t>4</a:t>
            </a:r>
            <a:endParaRPr lang="en-US" sz="1500" dirty="0"/>
          </a:p>
        </p:txBody>
      </p:sp>
      <p:sp>
        <p:nvSpPr>
          <p:cNvPr id="17" name="Text 11"/>
          <p:cNvSpPr/>
          <p:nvPr/>
        </p:nvSpPr>
        <p:spPr>
          <a:xfrm>
            <a:off x="1280783" y="4441924"/>
            <a:ext cx="1628040" cy="203498"/>
          </a:xfrm>
          <a:prstGeom prst="rect">
            <a:avLst/>
          </a:prstGeom>
          <a:noFill/>
          <a:ln/>
        </p:spPr>
        <p:txBody>
          <a:bodyPr wrap="none" lIns="0" tIns="0" rIns="0" bIns="0" rtlCol="0" anchor="t"/>
          <a:lstStyle/>
          <a:p>
            <a:pPr marL="0" indent="0" algn="l">
              <a:lnSpc>
                <a:spcPct val="104000"/>
              </a:lnSpc>
              <a:buNone/>
            </a:pPr>
            <a:r>
              <a:rPr lang="en-US" sz="1250" dirty="0">
                <a:solidFill>
                  <a:srgbClr val="E5DCE6"/>
                </a:solidFill>
                <a:latin typeface="Bricolage Grotesque ExtraBold" pitchFamily="34" charset="0"/>
                <a:ea typeface="Bricolage Grotesque ExtraBold" pitchFamily="34" charset="-122"/>
                <a:cs typeface="Bricolage Grotesque ExtraBold" pitchFamily="34" charset="-120"/>
              </a:rPr>
              <a:t>Objective 4</a:t>
            </a:r>
            <a:endParaRPr lang="en-US" sz="1250" dirty="0"/>
          </a:p>
        </p:txBody>
      </p:sp>
      <p:sp>
        <p:nvSpPr>
          <p:cNvPr id="18" name="Text 12"/>
          <p:cNvSpPr/>
          <p:nvPr/>
        </p:nvSpPr>
        <p:spPr>
          <a:xfrm>
            <a:off x="1280783" y="4699198"/>
            <a:ext cx="10110535" cy="405805"/>
          </a:xfrm>
          <a:prstGeom prst="rect">
            <a:avLst/>
          </a:prstGeom>
          <a:noFill/>
          <a:ln/>
        </p:spPr>
        <p:txBody>
          <a:bodyPr wrap="square" lIns="0" tIns="0" rIns="0" bIns="0" rtlCol="0" anchor="t"/>
          <a:lstStyle/>
          <a:p>
            <a:pPr marL="0" indent="0" algn="l">
              <a:lnSpc>
                <a:spcPct val="113000"/>
              </a:lnSpc>
              <a:spcAft>
                <a:spcPts val="400"/>
              </a:spcAft>
              <a:buNone/>
            </a:pPr>
            <a:r>
              <a:rPr lang="en-US" sz="1000" dirty="0">
                <a:solidFill>
                  <a:srgbClr val="E5DCE6"/>
                </a:solidFill>
                <a:latin typeface="Montserrat" pitchFamily="34" charset="0"/>
                <a:ea typeface="Montserrat" pitchFamily="34" charset="-122"/>
                <a:cs typeface="Montserrat" pitchFamily="34" charset="-120"/>
              </a:rPr>
              <a:t>Create secure user authentication.</a:t>
            </a:r>
            <a:endParaRPr lang="en-US" sz="1000" dirty="0"/>
          </a:p>
          <a:p>
            <a:pPr marL="0" indent="0" algn="l">
              <a:lnSpc>
                <a:spcPct val="113000"/>
              </a:lnSpc>
              <a:buNone/>
            </a:pPr>
            <a:r>
              <a:rPr lang="en-US" sz="1000" b="1" dirty="0">
                <a:solidFill>
                  <a:srgbClr val="E5DCE6"/>
                </a:solidFill>
                <a:latin typeface="Montserrat" pitchFamily="34" charset="0"/>
                <a:ea typeface="Montserrat" pitchFamily="34" charset="-122"/>
                <a:cs typeface="Montserrat" pitchFamily="34" charset="-120"/>
              </a:rPr>
              <a:t>Justification:</a:t>
            </a:r>
            <a:r>
              <a:rPr lang="en-US" sz="1000" dirty="0">
                <a:solidFill>
                  <a:srgbClr val="E5DCE6"/>
                </a:solidFill>
                <a:latin typeface="Montserrat" pitchFamily="34" charset="0"/>
                <a:ea typeface="Montserrat" pitchFamily="34" charset="-122"/>
                <a:cs typeface="Montserrat" pitchFamily="34" charset="-120"/>
              </a:rPr>
              <a:t> Allows storage of preferences and search history.</a:t>
            </a:r>
            <a:endParaRPr lang="en-US" sz="1000" dirty="0"/>
          </a:p>
        </p:txBody>
      </p:sp>
      <p:pic>
        <p:nvPicPr>
          <p:cNvPr id="19"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1156" y="5343922"/>
            <a:ext cx="10889382" cy="961529"/>
          </a:xfrm>
          <a:prstGeom prst="rect">
            <a:avLst/>
          </a:prstGeom>
        </p:spPr>
      </p:pic>
      <p:sp>
        <p:nvSpPr>
          <p:cNvPr id="20" name="Text 13"/>
          <p:cNvSpPr/>
          <p:nvPr/>
        </p:nvSpPr>
        <p:spPr>
          <a:xfrm>
            <a:off x="832921" y="5702598"/>
            <a:ext cx="195357" cy="244177"/>
          </a:xfrm>
          <a:prstGeom prst="rect">
            <a:avLst/>
          </a:prstGeom>
          <a:noFill/>
          <a:ln/>
        </p:spPr>
        <p:txBody>
          <a:bodyPr wrap="none" lIns="0" tIns="0" rIns="0" bIns="0" rtlCol="0" anchor="ctr"/>
          <a:lstStyle/>
          <a:p>
            <a:pPr marL="0" indent="0" algn="ctr">
              <a:lnSpc>
                <a:spcPct val="100000"/>
              </a:lnSpc>
              <a:buNone/>
            </a:pPr>
            <a:r>
              <a:rPr lang="en-US" sz="1500" dirty="0">
                <a:solidFill>
                  <a:srgbClr val="E5DCE6"/>
                </a:solidFill>
                <a:latin typeface="Bricolage Grotesque ExtraBold" pitchFamily="34" charset="0"/>
                <a:ea typeface="Bricolage Grotesque ExtraBold" pitchFamily="34" charset="-122"/>
                <a:cs typeface="Bricolage Grotesque ExtraBold" pitchFamily="34" charset="-120"/>
              </a:rPr>
              <a:t>5</a:t>
            </a:r>
            <a:endParaRPr lang="en-US" sz="1500" dirty="0"/>
          </a:p>
        </p:txBody>
      </p:sp>
      <p:sp>
        <p:nvSpPr>
          <p:cNvPr id="21" name="Text 14"/>
          <p:cNvSpPr/>
          <p:nvPr/>
        </p:nvSpPr>
        <p:spPr>
          <a:xfrm>
            <a:off x="1280783" y="5493147"/>
            <a:ext cx="1628040" cy="203498"/>
          </a:xfrm>
          <a:prstGeom prst="rect">
            <a:avLst/>
          </a:prstGeom>
          <a:noFill/>
          <a:ln/>
        </p:spPr>
        <p:txBody>
          <a:bodyPr wrap="none" lIns="0" tIns="0" rIns="0" bIns="0" rtlCol="0" anchor="t"/>
          <a:lstStyle/>
          <a:p>
            <a:pPr marL="0" indent="0" algn="l">
              <a:lnSpc>
                <a:spcPct val="104000"/>
              </a:lnSpc>
              <a:buNone/>
            </a:pPr>
            <a:r>
              <a:rPr lang="en-US" sz="1250" dirty="0">
                <a:solidFill>
                  <a:srgbClr val="E5DCE6"/>
                </a:solidFill>
                <a:latin typeface="Bricolage Grotesque ExtraBold" pitchFamily="34" charset="0"/>
                <a:ea typeface="Bricolage Grotesque ExtraBold" pitchFamily="34" charset="-122"/>
                <a:cs typeface="Bricolage Grotesque ExtraBold" pitchFamily="34" charset="-120"/>
              </a:rPr>
              <a:t>Objective 5</a:t>
            </a:r>
            <a:endParaRPr lang="en-US" sz="1250" dirty="0"/>
          </a:p>
        </p:txBody>
      </p:sp>
      <p:sp>
        <p:nvSpPr>
          <p:cNvPr id="22" name="Text 15"/>
          <p:cNvSpPr/>
          <p:nvPr/>
        </p:nvSpPr>
        <p:spPr>
          <a:xfrm>
            <a:off x="1280783" y="5750421"/>
            <a:ext cx="10110535" cy="405805"/>
          </a:xfrm>
          <a:prstGeom prst="rect">
            <a:avLst/>
          </a:prstGeom>
          <a:noFill/>
          <a:ln/>
        </p:spPr>
        <p:txBody>
          <a:bodyPr wrap="square" lIns="0" tIns="0" rIns="0" bIns="0" rtlCol="0" anchor="t"/>
          <a:lstStyle/>
          <a:p>
            <a:pPr marL="0" indent="0" algn="l">
              <a:lnSpc>
                <a:spcPct val="113000"/>
              </a:lnSpc>
              <a:spcAft>
                <a:spcPts val="400"/>
              </a:spcAft>
              <a:buNone/>
            </a:pPr>
            <a:r>
              <a:rPr lang="en-US" sz="1000" dirty="0">
                <a:solidFill>
                  <a:srgbClr val="E5DCE6"/>
                </a:solidFill>
                <a:latin typeface="Montserrat" pitchFamily="34" charset="0"/>
                <a:ea typeface="Montserrat" pitchFamily="34" charset="-122"/>
                <a:cs typeface="Montserrat" pitchFamily="34" charset="-120"/>
              </a:rPr>
              <a:t>Build a scalable frontend architecture.</a:t>
            </a:r>
            <a:endParaRPr lang="en-US" sz="1000" dirty="0"/>
          </a:p>
          <a:p>
            <a:pPr marL="0" indent="0" algn="l">
              <a:lnSpc>
                <a:spcPct val="113000"/>
              </a:lnSpc>
              <a:buNone/>
            </a:pPr>
            <a:r>
              <a:rPr lang="en-US" sz="1000" b="1" dirty="0">
                <a:solidFill>
                  <a:srgbClr val="E5DCE6"/>
                </a:solidFill>
                <a:latin typeface="Montserrat" pitchFamily="34" charset="0"/>
                <a:ea typeface="Montserrat" pitchFamily="34" charset="-122"/>
                <a:cs typeface="Montserrat" pitchFamily="34" charset="-120"/>
              </a:rPr>
              <a:t>Justification:</a:t>
            </a:r>
            <a:r>
              <a:rPr lang="en-US" sz="1000" dirty="0">
                <a:solidFill>
                  <a:srgbClr val="E5DCE6"/>
                </a:solidFill>
                <a:latin typeface="Montserrat" pitchFamily="34" charset="0"/>
                <a:ea typeface="Montserrat" pitchFamily="34" charset="-122"/>
                <a:cs typeface="Montserrat" pitchFamily="34" charset="-120"/>
              </a:rPr>
              <a:t> Supports future integration with APIs and AI models.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391215" y="0"/>
            <a:ext cx="4800480" cy="6858000"/>
          </a:xfrm>
          <a:prstGeom prst="rect">
            <a:avLst/>
          </a:prstGeom>
        </p:spPr>
      </p:pic>
      <p:sp>
        <p:nvSpPr>
          <p:cNvPr id="3" name="Text 0"/>
          <p:cNvSpPr/>
          <p:nvPr/>
        </p:nvSpPr>
        <p:spPr>
          <a:xfrm>
            <a:off x="484193" y="449714"/>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EEAEF6"/>
                </a:solidFill>
                <a:latin typeface="Bricolage Grotesque ExtraBold" pitchFamily="34" charset="0"/>
                <a:ea typeface="Bricolage Grotesque ExtraBold" pitchFamily="34" charset="-122"/>
                <a:cs typeface="Bricolage Grotesque ExtraBold" pitchFamily="34" charset="-120"/>
              </a:rPr>
              <a:t>Modules [Frontend Web Pages]</a:t>
            </a:r>
            <a:endParaRPr lang="en-US" sz="3700" dirty="0"/>
          </a:p>
        </p:txBody>
      </p:sp>
      <p:pic>
        <p:nvPicPr>
          <p:cNvPr id="6" name="Picture 5">
            <a:extLst>
              <a:ext uri="{FF2B5EF4-FFF2-40B4-BE49-F238E27FC236}">
                <a16:creationId xmlns:a16="http://schemas.microsoft.com/office/drawing/2014/main" id="{4D7064F7-7F41-7D8C-8E72-26C99AE51A80}"/>
              </a:ext>
            </a:extLst>
          </p:cNvPr>
          <p:cNvPicPr>
            <a:picLocks noChangeAspect="1"/>
          </p:cNvPicPr>
          <p:nvPr/>
        </p:nvPicPr>
        <p:blipFill>
          <a:blip r:embed="rId4"/>
          <a:stretch>
            <a:fillRect/>
          </a:stretch>
        </p:blipFill>
        <p:spPr>
          <a:xfrm>
            <a:off x="399444" y="1749850"/>
            <a:ext cx="1642974" cy="1679150"/>
          </a:xfrm>
          <a:prstGeom prst="rect">
            <a:avLst/>
          </a:prstGeom>
        </p:spPr>
      </p:pic>
      <p:pic>
        <p:nvPicPr>
          <p:cNvPr id="9" name="Picture 8">
            <a:extLst>
              <a:ext uri="{FF2B5EF4-FFF2-40B4-BE49-F238E27FC236}">
                <a16:creationId xmlns:a16="http://schemas.microsoft.com/office/drawing/2014/main" id="{91C4278D-3C96-9AEE-5B75-2C5D2183BA19}"/>
              </a:ext>
            </a:extLst>
          </p:cNvPr>
          <p:cNvPicPr>
            <a:picLocks noChangeAspect="1"/>
          </p:cNvPicPr>
          <p:nvPr/>
        </p:nvPicPr>
        <p:blipFill>
          <a:blip r:embed="rId5"/>
          <a:stretch>
            <a:fillRect/>
          </a:stretch>
        </p:blipFill>
        <p:spPr>
          <a:xfrm>
            <a:off x="2449287" y="1749850"/>
            <a:ext cx="1534394" cy="1877914"/>
          </a:xfrm>
          <a:prstGeom prst="rect">
            <a:avLst/>
          </a:prstGeom>
        </p:spPr>
      </p:pic>
      <p:pic>
        <p:nvPicPr>
          <p:cNvPr id="11" name="Picture 10">
            <a:extLst>
              <a:ext uri="{FF2B5EF4-FFF2-40B4-BE49-F238E27FC236}">
                <a16:creationId xmlns:a16="http://schemas.microsoft.com/office/drawing/2014/main" id="{5A6BB8EC-9E13-4DE2-5CEA-2BD3C4319D48}"/>
              </a:ext>
            </a:extLst>
          </p:cNvPr>
          <p:cNvPicPr>
            <a:picLocks noChangeAspect="1"/>
          </p:cNvPicPr>
          <p:nvPr/>
        </p:nvPicPr>
        <p:blipFill>
          <a:blip r:embed="rId6"/>
          <a:stretch>
            <a:fillRect/>
          </a:stretch>
        </p:blipFill>
        <p:spPr>
          <a:xfrm>
            <a:off x="174970" y="3746602"/>
            <a:ext cx="3282938" cy="3040030"/>
          </a:xfrm>
          <a:prstGeom prst="rect">
            <a:avLst/>
          </a:prstGeom>
        </p:spPr>
      </p:pic>
      <p:pic>
        <p:nvPicPr>
          <p:cNvPr id="13" name="Picture 12">
            <a:extLst>
              <a:ext uri="{FF2B5EF4-FFF2-40B4-BE49-F238E27FC236}">
                <a16:creationId xmlns:a16="http://schemas.microsoft.com/office/drawing/2014/main" id="{35C0A5D0-BD23-8220-A5D9-23D8F7390B2B}"/>
              </a:ext>
            </a:extLst>
          </p:cNvPr>
          <p:cNvPicPr>
            <a:picLocks noChangeAspect="1"/>
          </p:cNvPicPr>
          <p:nvPr/>
        </p:nvPicPr>
        <p:blipFill>
          <a:blip r:embed="rId7"/>
          <a:stretch>
            <a:fillRect/>
          </a:stretch>
        </p:blipFill>
        <p:spPr>
          <a:xfrm>
            <a:off x="3735545" y="4044509"/>
            <a:ext cx="2819644" cy="2644369"/>
          </a:xfrm>
          <a:prstGeom prst="rect">
            <a:avLst/>
          </a:prstGeom>
        </p:spPr>
      </p:pic>
      <p:pic>
        <p:nvPicPr>
          <p:cNvPr id="15" name="Picture 14">
            <a:extLst>
              <a:ext uri="{FF2B5EF4-FFF2-40B4-BE49-F238E27FC236}">
                <a16:creationId xmlns:a16="http://schemas.microsoft.com/office/drawing/2014/main" id="{D2C97907-A660-BA9E-7014-3B6243EE44C9}"/>
              </a:ext>
            </a:extLst>
          </p:cNvPr>
          <p:cNvPicPr>
            <a:picLocks noChangeAspect="1"/>
          </p:cNvPicPr>
          <p:nvPr/>
        </p:nvPicPr>
        <p:blipFill>
          <a:blip r:embed="rId8"/>
          <a:stretch>
            <a:fillRect/>
          </a:stretch>
        </p:blipFill>
        <p:spPr>
          <a:xfrm>
            <a:off x="4493559" y="1824939"/>
            <a:ext cx="1912786" cy="173751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060648"/>
            <a:ext cx="10495097" cy="590649"/>
          </a:xfrm>
          <a:prstGeom prst="rect">
            <a:avLst/>
          </a:prstGeom>
          <a:noFill/>
          <a:ln/>
        </p:spPr>
        <p:txBody>
          <a:bodyPr wrap="none" lIns="0" tIns="0" rIns="0" bIns="0" rtlCol="0" anchor="t"/>
          <a:lstStyle/>
          <a:p>
            <a:pPr marL="0" indent="0" algn="l">
              <a:lnSpc>
                <a:spcPct val="104000"/>
              </a:lnSpc>
              <a:buNone/>
            </a:pPr>
            <a:r>
              <a:rPr lang="en-US" sz="3700" dirty="0">
                <a:solidFill>
                  <a:srgbClr val="EEAEF6"/>
                </a:solidFill>
                <a:latin typeface="Bricolage Grotesque ExtraBold" pitchFamily="34" charset="0"/>
                <a:ea typeface="Bricolage Grotesque ExtraBold" pitchFamily="34" charset="-122"/>
                <a:cs typeface="Bricolage Grotesque ExtraBold" pitchFamily="34" charset="-120"/>
              </a:rPr>
              <a:t>Expected Outcomes of the Proposed Work</a:t>
            </a:r>
            <a:endParaRPr lang="en-US" sz="37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029321"/>
            <a:ext cx="472468" cy="472480"/>
          </a:xfrm>
          <a:prstGeom prst="rect">
            <a:avLst/>
          </a:prstGeom>
        </p:spPr>
      </p:pic>
      <p:sp>
        <p:nvSpPr>
          <p:cNvPr id="4" name="Text 1"/>
          <p:cNvSpPr/>
          <p:nvPr/>
        </p:nvSpPr>
        <p:spPr>
          <a:xfrm>
            <a:off x="661475" y="2738041"/>
            <a:ext cx="3803952" cy="295275"/>
          </a:xfrm>
          <a:prstGeom prst="rect">
            <a:avLst/>
          </a:prstGeom>
          <a:noFill/>
          <a:ln/>
        </p:spPr>
        <p:txBody>
          <a:bodyPr wrap="none" lIns="0" tIns="0" rIns="0" bIns="0" rtlCol="0" anchor="t"/>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Single-search product discovery</a:t>
            </a:r>
            <a:endParaRPr lang="en-US" sz="185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13915" y="2029321"/>
            <a:ext cx="472468" cy="472480"/>
          </a:xfrm>
          <a:prstGeom prst="rect">
            <a:avLst/>
          </a:prstGeom>
        </p:spPr>
      </p:pic>
      <p:sp>
        <p:nvSpPr>
          <p:cNvPr id="6" name="Text 2"/>
          <p:cNvSpPr/>
          <p:nvPr/>
        </p:nvSpPr>
        <p:spPr>
          <a:xfrm>
            <a:off x="6213915" y="2738041"/>
            <a:ext cx="3609885" cy="295275"/>
          </a:xfrm>
          <a:prstGeom prst="rect">
            <a:avLst/>
          </a:prstGeom>
          <a:noFill/>
          <a:ln/>
        </p:spPr>
        <p:txBody>
          <a:bodyPr wrap="none" lIns="0" tIns="0" rIns="0" bIns="0" rtlCol="0" anchor="t"/>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Faster comparison of products</a:t>
            </a:r>
            <a:endParaRPr lang="en-US" sz="185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3411339"/>
            <a:ext cx="472468" cy="472480"/>
          </a:xfrm>
          <a:prstGeom prst="rect">
            <a:avLst/>
          </a:prstGeom>
        </p:spPr>
      </p:pic>
      <p:sp>
        <p:nvSpPr>
          <p:cNvPr id="8" name="Text 3"/>
          <p:cNvSpPr/>
          <p:nvPr/>
        </p:nvSpPr>
        <p:spPr>
          <a:xfrm>
            <a:off x="661475" y="4120059"/>
            <a:ext cx="3059433" cy="295275"/>
          </a:xfrm>
          <a:prstGeom prst="rect">
            <a:avLst/>
          </a:prstGeom>
          <a:noFill/>
          <a:ln/>
        </p:spPr>
        <p:txBody>
          <a:bodyPr wrap="none" lIns="0" tIns="0" rIns="0" bIns="0" rtlCol="0" anchor="t"/>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Better shopping decisions</a:t>
            </a:r>
            <a:endParaRPr lang="en-US" sz="1850" dirty="0"/>
          </a:p>
        </p:txBody>
      </p:sp>
      <p:pic>
        <p:nvPicPr>
          <p:cNvPr id="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13915" y="3411339"/>
            <a:ext cx="472468" cy="472480"/>
          </a:xfrm>
          <a:prstGeom prst="rect">
            <a:avLst/>
          </a:prstGeom>
        </p:spPr>
      </p:pic>
      <p:sp>
        <p:nvSpPr>
          <p:cNvPr id="10" name="Text 4"/>
          <p:cNvSpPr/>
          <p:nvPr/>
        </p:nvSpPr>
        <p:spPr>
          <a:xfrm>
            <a:off x="6213915" y="4120059"/>
            <a:ext cx="3726265" cy="295275"/>
          </a:xfrm>
          <a:prstGeom prst="rect">
            <a:avLst/>
          </a:prstGeom>
          <a:noFill/>
          <a:ln/>
        </p:spPr>
        <p:txBody>
          <a:bodyPr wrap="none" lIns="0" tIns="0" rIns="0" bIns="0" rtlCol="0" anchor="t"/>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Personalized recommendations</a:t>
            </a:r>
            <a:endParaRPr lang="en-US" sz="1850" dirty="0"/>
          </a:p>
        </p:txBody>
      </p:sp>
      <p:pic>
        <p:nvPicPr>
          <p:cNvPr id="1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1475" y="4793357"/>
            <a:ext cx="472468" cy="472480"/>
          </a:xfrm>
          <a:prstGeom prst="rect">
            <a:avLst/>
          </a:prstGeom>
        </p:spPr>
      </p:pic>
      <p:sp>
        <p:nvSpPr>
          <p:cNvPr id="12" name="Text 5"/>
          <p:cNvSpPr/>
          <p:nvPr/>
        </p:nvSpPr>
        <p:spPr>
          <a:xfrm>
            <a:off x="661475" y="5502077"/>
            <a:ext cx="2362637" cy="295275"/>
          </a:xfrm>
          <a:prstGeom prst="rect">
            <a:avLst/>
          </a:prstGeom>
          <a:noFill/>
          <a:ln/>
        </p:spPr>
        <p:txBody>
          <a:bodyPr wrap="none" lIns="0" tIns="0" rIns="0" bIns="0" rtlCol="0" anchor="t"/>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Reduced user effort</a:t>
            </a:r>
            <a:endParaRPr lang="en-US" sz="1850" dirty="0"/>
          </a:p>
        </p:txBody>
      </p:sp>
      <p:pic>
        <p:nvPicPr>
          <p:cNvPr id="13"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13915" y="4793357"/>
            <a:ext cx="472468" cy="472480"/>
          </a:xfrm>
          <a:prstGeom prst="rect">
            <a:avLst/>
          </a:prstGeom>
        </p:spPr>
      </p:pic>
      <p:sp>
        <p:nvSpPr>
          <p:cNvPr id="14" name="Text 6"/>
          <p:cNvSpPr/>
          <p:nvPr/>
        </p:nvSpPr>
        <p:spPr>
          <a:xfrm>
            <a:off x="6213915" y="5502077"/>
            <a:ext cx="3631315" cy="295275"/>
          </a:xfrm>
          <a:prstGeom prst="rect">
            <a:avLst/>
          </a:prstGeom>
          <a:noFill/>
          <a:ln/>
        </p:spPr>
        <p:txBody>
          <a:bodyPr wrap="none" lIns="0" tIns="0" rIns="0" bIns="0" rtlCol="0" anchor="t"/>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Improved shopping experience</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735509"/>
            <a:ext cx="5389725" cy="413445"/>
          </a:xfrm>
          <a:prstGeom prst="rect">
            <a:avLst/>
          </a:prstGeom>
          <a:noFill/>
          <a:ln/>
        </p:spPr>
        <p:txBody>
          <a:bodyPr wrap="none" lIns="0" tIns="0" rIns="0" bIns="0" rtlCol="0" anchor="t"/>
          <a:lstStyle/>
          <a:p>
            <a:pPr marL="0" indent="0" algn="l">
              <a:lnSpc>
                <a:spcPct val="104000"/>
              </a:lnSpc>
              <a:buNone/>
            </a:pPr>
            <a:r>
              <a:rPr lang="en-US" sz="2600" dirty="0">
                <a:solidFill>
                  <a:srgbClr val="EEAEF6"/>
                </a:solidFill>
                <a:latin typeface="Bricolage Grotesque ExtraBold" pitchFamily="34" charset="0"/>
                <a:ea typeface="Bricolage Grotesque ExtraBold" pitchFamily="34" charset="-122"/>
                <a:cs typeface="Bricolage Grotesque ExtraBold" pitchFamily="34" charset="-120"/>
              </a:rPr>
              <a:t>Conclusion and Future Scope</a:t>
            </a:r>
            <a:endParaRPr lang="en-US" sz="2600" dirty="0"/>
          </a:p>
        </p:txBody>
      </p:sp>
      <p:sp>
        <p:nvSpPr>
          <p:cNvPr id="3" name="Shape 1"/>
          <p:cNvSpPr/>
          <p:nvPr/>
        </p:nvSpPr>
        <p:spPr>
          <a:xfrm>
            <a:off x="566227" y="1287859"/>
            <a:ext cx="5463542" cy="4834533"/>
          </a:xfrm>
          <a:prstGeom prst="roundRect">
            <a:avLst>
              <a:gd name="adj" fmla="val 1971"/>
            </a:avLst>
          </a:prstGeom>
          <a:solidFill>
            <a:srgbClr val="EEAEF6"/>
          </a:solidFill>
          <a:ln/>
        </p:spPr>
      </p:sp>
      <p:sp>
        <p:nvSpPr>
          <p:cNvPr id="4" name="Text 2"/>
          <p:cNvSpPr/>
          <p:nvPr/>
        </p:nvSpPr>
        <p:spPr>
          <a:xfrm>
            <a:off x="698483" y="1380430"/>
            <a:ext cx="2263421" cy="206673"/>
          </a:xfrm>
          <a:prstGeom prst="rect">
            <a:avLst/>
          </a:prstGeom>
          <a:noFill/>
          <a:ln/>
        </p:spPr>
        <p:txBody>
          <a:bodyPr wrap="none" lIns="0" tIns="0" rIns="0" bIns="0" rtlCol="0" anchor="t"/>
          <a:lstStyle/>
          <a:p>
            <a:pPr marL="0" indent="0" algn="l">
              <a:lnSpc>
                <a:spcPct val="104000"/>
              </a:lnSpc>
              <a:buNone/>
            </a:pPr>
            <a:r>
              <a:rPr lang="en-US" sz="1300" dirty="0">
                <a:solidFill>
                  <a:srgbClr val="000000"/>
                </a:solidFill>
                <a:latin typeface="Bricolage Grotesque ExtraBold" pitchFamily="34" charset="0"/>
                <a:ea typeface="Bricolage Grotesque ExtraBold" pitchFamily="34" charset="-122"/>
                <a:cs typeface="Bricolage Grotesque ExtraBold" pitchFamily="34" charset="-120"/>
              </a:rPr>
              <a:t>Conclusion</a:t>
            </a:r>
            <a:endParaRPr lang="en-US" sz="1300" dirty="0"/>
          </a:p>
        </p:txBody>
      </p:sp>
      <p:sp>
        <p:nvSpPr>
          <p:cNvPr id="5" name="Text 3"/>
          <p:cNvSpPr/>
          <p:nvPr/>
        </p:nvSpPr>
        <p:spPr>
          <a:xfrm>
            <a:off x="698483" y="1679674"/>
            <a:ext cx="5199032" cy="899914"/>
          </a:xfrm>
          <a:prstGeom prst="rect">
            <a:avLst/>
          </a:prstGeom>
          <a:noFill/>
          <a:ln/>
        </p:spPr>
        <p:txBody>
          <a:bodyPr wrap="square" lIns="0" tIns="0" rIns="0" bIns="0" rtlCol="0" anchor="t">
            <a:normAutofit/>
          </a:bodyPr>
          <a:lstStyle/>
          <a:p>
            <a:pPr marL="0" indent="0" algn="l">
              <a:lnSpc>
                <a:spcPct val="113000"/>
              </a:lnSpc>
              <a:buNone/>
            </a:pPr>
            <a:r>
              <a:rPr lang="en-US" sz="1000" dirty="0">
                <a:solidFill>
                  <a:srgbClr val="000000"/>
                </a:solidFill>
                <a:latin typeface="Montserrat" pitchFamily="34" charset="0"/>
                <a:ea typeface="Montserrat" pitchFamily="34" charset="-122"/>
                <a:cs typeface="Montserrat" pitchFamily="34" charset="-120"/>
              </a:rPr>
              <a:t>The proposed Smart Product Search and Recommendation Engine provides a centralized solution for product discovery and price comparison. By combining search functionality, recommendation techniques, and price comparison features, the system reduces the effort required to find products across multiple platforms while improving user experience.</a:t>
            </a:r>
            <a:endParaRPr lang="en-US" sz="1000" dirty="0"/>
          </a:p>
        </p:txBody>
      </p:sp>
      <p:sp>
        <p:nvSpPr>
          <p:cNvPr id="6" name="Text 4"/>
          <p:cNvSpPr/>
          <p:nvPr/>
        </p:nvSpPr>
        <p:spPr>
          <a:xfrm>
            <a:off x="6263523" y="1380430"/>
            <a:ext cx="2263421" cy="206673"/>
          </a:xfrm>
          <a:prstGeom prst="rect">
            <a:avLst/>
          </a:prstGeom>
          <a:noFill/>
          <a:ln/>
        </p:spPr>
        <p:txBody>
          <a:bodyPr wrap="none" lIns="0" tIns="0" rIns="0" bIns="0" rtlCol="0" anchor="t"/>
          <a:lstStyle/>
          <a:p>
            <a:pPr marL="0" indent="0" algn="l">
              <a:lnSpc>
                <a:spcPct val="104000"/>
              </a:lnSpc>
              <a:buNone/>
            </a:pPr>
            <a:r>
              <a:rPr lang="en-US" sz="1300" dirty="0">
                <a:solidFill>
                  <a:srgbClr val="EEAEF6"/>
                </a:solidFill>
                <a:latin typeface="Bricolage Grotesque ExtraBold" pitchFamily="34" charset="0"/>
                <a:ea typeface="Bricolage Grotesque ExtraBold" pitchFamily="34" charset="-122"/>
                <a:cs typeface="Bricolage Grotesque ExtraBold" pitchFamily="34" charset="-120"/>
              </a:rPr>
              <a:t>Future Scope</a:t>
            </a:r>
            <a:endParaRPr lang="en-US" sz="1300" dirty="0"/>
          </a:p>
        </p:txBody>
      </p:sp>
      <p:sp>
        <p:nvSpPr>
          <p:cNvPr id="7" name="Shape 5"/>
          <p:cNvSpPr/>
          <p:nvPr/>
        </p:nvSpPr>
        <p:spPr>
          <a:xfrm>
            <a:off x="6263523" y="1691283"/>
            <a:ext cx="2590239" cy="960636"/>
          </a:xfrm>
          <a:prstGeom prst="roundRect">
            <a:avLst>
              <a:gd name="adj" fmla="val 5785"/>
            </a:avLst>
          </a:prstGeom>
          <a:solidFill>
            <a:srgbClr val="282D5E"/>
          </a:solidFill>
          <a:ln/>
        </p:spPr>
      </p:sp>
      <p:sp>
        <p:nvSpPr>
          <p:cNvPr id="8" name="Shape 6"/>
          <p:cNvSpPr/>
          <p:nvPr/>
        </p:nvSpPr>
        <p:spPr>
          <a:xfrm>
            <a:off x="6395778" y="1823541"/>
            <a:ext cx="396865" cy="396875"/>
          </a:xfrm>
          <a:prstGeom prst="roundRect">
            <a:avLst>
              <a:gd name="adj" fmla="val 19198084"/>
            </a:avLst>
          </a:prstGeom>
          <a:solidFill>
            <a:srgbClr val="EEAEF6"/>
          </a:solidFill>
          <a:ln/>
        </p:spPr>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4916" y="1932682"/>
            <a:ext cx="178589" cy="178594"/>
          </a:xfrm>
          <a:prstGeom prst="rect">
            <a:avLst/>
          </a:prstGeom>
        </p:spPr>
      </p:pic>
      <p:sp>
        <p:nvSpPr>
          <p:cNvPr id="10" name="Text 7"/>
          <p:cNvSpPr/>
          <p:nvPr/>
        </p:nvSpPr>
        <p:spPr>
          <a:xfrm>
            <a:off x="6395778" y="2312988"/>
            <a:ext cx="2298642" cy="206673"/>
          </a:xfrm>
          <a:prstGeom prst="rect">
            <a:avLst/>
          </a:prstGeom>
          <a:noFill/>
          <a:ln/>
        </p:spPr>
        <p:txBody>
          <a:bodyPr wrap="none" lIns="0" tIns="0" rIns="0" bIns="0" rtlCol="0" anchor="t"/>
          <a:lstStyle/>
          <a:p>
            <a:pPr marL="0" indent="0" algn="l">
              <a:lnSpc>
                <a:spcPct val="104000"/>
              </a:lnSpc>
              <a:buNone/>
            </a:pPr>
            <a:r>
              <a:rPr lang="en-US" sz="1300" dirty="0">
                <a:solidFill>
                  <a:srgbClr val="E5DCE6"/>
                </a:solidFill>
                <a:latin typeface="Bricolage Grotesque ExtraBold" pitchFamily="34" charset="0"/>
                <a:ea typeface="Bricolage Grotesque ExtraBold" pitchFamily="34" charset="-122"/>
                <a:cs typeface="Bricolage Grotesque ExtraBold" pitchFamily="34" charset="-120"/>
              </a:rPr>
              <a:t>AI Recommendation Models</a:t>
            </a:r>
            <a:endParaRPr lang="en-US" sz="1300" dirty="0"/>
          </a:p>
        </p:txBody>
      </p:sp>
      <p:sp>
        <p:nvSpPr>
          <p:cNvPr id="11" name="Shape 8"/>
          <p:cNvSpPr/>
          <p:nvPr/>
        </p:nvSpPr>
        <p:spPr>
          <a:xfrm>
            <a:off x="8946331" y="1691283"/>
            <a:ext cx="2590239" cy="960636"/>
          </a:xfrm>
          <a:prstGeom prst="roundRect">
            <a:avLst>
              <a:gd name="adj" fmla="val 5785"/>
            </a:avLst>
          </a:prstGeom>
          <a:solidFill>
            <a:srgbClr val="282D5E"/>
          </a:solidFill>
          <a:ln/>
        </p:spPr>
      </p:sp>
      <p:sp>
        <p:nvSpPr>
          <p:cNvPr id="12" name="Shape 9"/>
          <p:cNvSpPr/>
          <p:nvPr/>
        </p:nvSpPr>
        <p:spPr>
          <a:xfrm>
            <a:off x="9078586" y="1823541"/>
            <a:ext cx="396865" cy="396875"/>
          </a:xfrm>
          <a:prstGeom prst="roundRect">
            <a:avLst>
              <a:gd name="adj" fmla="val 19198084"/>
            </a:avLst>
          </a:prstGeom>
          <a:solidFill>
            <a:srgbClr val="EEAEF6"/>
          </a:solidFill>
          <a:ln/>
        </p:spPr>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87724" y="1932682"/>
            <a:ext cx="178589" cy="178594"/>
          </a:xfrm>
          <a:prstGeom prst="rect">
            <a:avLst/>
          </a:prstGeom>
        </p:spPr>
      </p:pic>
      <p:sp>
        <p:nvSpPr>
          <p:cNvPr id="14" name="Text 10"/>
          <p:cNvSpPr/>
          <p:nvPr/>
        </p:nvSpPr>
        <p:spPr>
          <a:xfrm>
            <a:off x="9078586" y="2312988"/>
            <a:ext cx="2061218" cy="206673"/>
          </a:xfrm>
          <a:prstGeom prst="rect">
            <a:avLst/>
          </a:prstGeom>
          <a:noFill/>
          <a:ln/>
        </p:spPr>
        <p:txBody>
          <a:bodyPr wrap="none" lIns="0" tIns="0" rIns="0" bIns="0" rtlCol="0" anchor="t"/>
          <a:lstStyle/>
          <a:p>
            <a:pPr marL="0" indent="0" algn="l">
              <a:lnSpc>
                <a:spcPct val="104000"/>
              </a:lnSpc>
              <a:buNone/>
            </a:pPr>
            <a:r>
              <a:rPr lang="en-US" sz="1300" dirty="0">
                <a:solidFill>
                  <a:srgbClr val="E5DCE6"/>
                </a:solidFill>
                <a:latin typeface="Bricolage Grotesque ExtraBold" pitchFamily="34" charset="0"/>
                <a:ea typeface="Bricolage Grotesque ExtraBold" pitchFamily="34" charset="-122"/>
                <a:cs typeface="Bricolage Grotesque ExtraBold" pitchFamily="34" charset="-120"/>
              </a:rPr>
              <a:t>Real-Time API Integration</a:t>
            </a:r>
            <a:endParaRPr lang="en-US" sz="1300" dirty="0"/>
          </a:p>
        </p:txBody>
      </p:sp>
      <p:sp>
        <p:nvSpPr>
          <p:cNvPr id="15" name="Shape 11"/>
          <p:cNvSpPr/>
          <p:nvPr/>
        </p:nvSpPr>
        <p:spPr>
          <a:xfrm>
            <a:off x="6263523" y="2744490"/>
            <a:ext cx="2590239" cy="1167309"/>
          </a:xfrm>
          <a:prstGeom prst="roundRect">
            <a:avLst>
              <a:gd name="adj" fmla="val 4761"/>
            </a:avLst>
          </a:prstGeom>
          <a:solidFill>
            <a:srgbClr val="282D5E"/>
          </a:solidFill>
          <a:ln/>
        </p:spPr>
      </p:sp>
      <p:sp>
        <p:nvSpPr>
          <p:cNvPr id="16" name="Shape 12"/>
          <p:cNvSpPr/>
          <p:nvPr/>
        </p:nvSpPr>
        <p:spPr>
          <a:xfrm>
            <a:off x="6395778" y="2876748"/>
            <a:ext cx="396865" cy="396875"/>
          </a:xfrm>
          <a:prstGeom prst="roundRect">
            <a:avLst>
              <a:gd name="adj" fmla="val 19198084"/>
            </a:avLst>
          </a:prstGeom>
          <a:solidFill>
            <a:srgbClr val="EEAEF6"/>
          </a:solidFill>
          <a:ln/>
        </p:spPr>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04916" y="2985889"/>
            <a:ext cx="178589" cy="178594"/>
          </a:xfrm>
          <a:prstGeom prst="rect">
            <a:avLst/>
          </a:prstGeom>
        </p:spPr>
      </p:pic>
      <p:sp>
        <p:nvSpPr>
          <p:cNvPr id="18" name="Text 13"/>
          <p:cNvSpPr/>
          <p:nvPr/>
        </p:nvSpPr>
        <p:spPr>
          <a:xfrm>
            <a:off x="6395778" y="3366195"/>
            <a:ext cx="1653836" cy="206673"/>
          </a:xfrm>
          <a:prstGeom prst="rect">
            <a:avLst/>
          </a:prstGeom>
          <a:noFill/>
          <a:ln/>
        </p:spPr>
        <p:txBody>
          <a:bodyPr wrap="none" lIns="0" tIns="0" rIns="0" bIns="0" rtlCol="0" anchor="t"/>
          <a:lstStyle/>
          <a:p>
            <a:pPr marL="0" indent="0" algn="l">
              <a:lnSpc>
                <a:spcPct val="104000"/>
              </a:lnSpc>
              <a:buNone/>
            </a:pPr>
            <a:r>
              <a:rPr lang="en-US" sz="1300" dirty="0">
                <a:solidFill>
                  <a:srgbClr val="E5DCE6"/>
                </a:solidFill>
                <a:latin typeface="Bricolage Grotesque ExtraBold" pitchFamily="34" charset="0"/>
                <a:ea typeface="Bricolage Grotesque ExtraBold" pitchFamily="34" charset="-122"/>
                <a:cs typeface="Bricolage Grotesque ExtraBold" pitchFamily="34" charset="-120"/>
              </a:rPr>
              <a:t>Voice Search</a:t>
            </a:r>
            <a:endParaRPr lang="en-US" sz="1300" dirty="0"/>
          </a:p>
        </p:txBody>
      </p:sp>
      <p:sp>
        <p:nvSpPr>
          <p:cNvPr id="19" name="Shape 14"/>
          <p:cNvSpPr/>
          <p:nvPr/>
        </p:nvSpPr>
        <p:spPr>
          <a:xfrm>
            <a:off x="8946331" y="2744490"/>
            <a:ext cx="2590239" cy="1167309"/>
          </a:xfrm>
          <a:prstGeom prst="roundRect">
            <a:avLst>
              <a:gd name="adj" fmla="val 4761"/>
            </a:avLst>
          </a:prstGeom>
          <a:solidFill>
            <a:srgbClr val="282D5E"/>
          </a:solidFill>
          <a:ln/>
        </p:spPr>
      </p:sp>
      <p:sp>
        <p:nvSpPr>
          <p:cNvPr id="20" name="Shape 15"/>
          <p:cNvSpPr/>
          <p:nvPr/>
        </p:nvSpPr>
        <p:spPr>
          <a:xfrm>
            <a:off x="9078586" y="2876748"/>
            <a:ext cx="396865" cy="396875"/>
          </a:xfrm>
          <a:prstGeom prst="roundRect">
            <a:avLst>
              <a:gd name="adj" fmla="val 19198084"/>
            </a:avLst>
          </a:prstGeom>
          <a:solidFill>
            <a:srgbClr val="EEAEF6"/>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87724" y="2985889"/>
            <a:ext cx="178589" cy="178594"/>
          </a:xfrm>
          <a:prstGeom prst="rect">
            <a:avLst/>
          </a:prstGeom>
        </p:spPr>
      </p:pic>
      <p:sp>
        <p:nvSpPr>
          <p:cNvPr id="22" name="Text 16"/>
          <p:cNvSpPr/>
          <p:nvPr/>
        </p:nvSpPr>
        <p:spPr>
          <a:xfrm>
            <a:off x="9078586" y="3366195"/>
            <a:ext cx="2325729" cy="413345"/>
          </a:xfrm>
          <a:prstGeom prst="rect">
            <a:avLst/>
          </a:prstGeom>
          <a:noFill/>
          <a:ln/>
        </p:spPr>
        <p:txBody>
          <a:bodyPr wrap="square" lIns="0" tIns="0" rIns="0" bIns="0" rtlCol="0" anchor="t">
            <a:normAutofit/>
          </a:bodyPr>
          <a:lstStyle/>
          <a:p>
            <a:pPr marL="0" indent="0" algn="l">
              <a:lnSpc>
                <a:spcPct val="104000"/>
              </a:lnSpc>
              <a:buNone/>
            </a:pPr>
            <a:r>
              <a:rPr lang="en-US" sz="1300" dirty="0">
                <a:solidFill>
                  <a:srgbClr val="E5DCE6"/>
                </a:solidFill>
                <a:latin typeface="Bricolage Grotesque ExtraBold" pitchFamily="34" charset="0"/>
                <a:ea typeface="Bricolage Grotesque ExtraBold" pitchFamily="34" charset="-122"/>
                <a:cs typeface="Bricolage Grotesque ExtraBold" pitchFamily="34" charset="-120"/>
              </a:rPr>
              <a:t>Image-Based Product Search</a:t>
            </a:r>
            <a:endParaRPr lang="en-US" sz="1300" dirty="0"/>
          </a:p>
        </p:txBody>
      </p:sp>
      <p:sp>
        <p:nvSpPr>
          <p:cNvPr id="23" name="Shape 17"/>
          <p:cNvSpPr/>
          <p:nvPr/>
        </p:nvSpPr>
        <p:spPr>
          <a:xfrm>
            <a:off x="6263523" y="4004370"/>
            <a:ext cx="2590239" cy="960636"/>
          </a:xfrm>
          <a:prstGeom prst="roundRect">
            <a:avLst>
              <a:gd name="adj" fmla="val 5785"/>
            </a:avLst>
          </a:prstGeom>
          <a:solidFill>
            <a:srgbClr val="282D5E"/>
          </a:solidFill>
          <a:ln/>
        </p:spPr>
      </p:sp>
      <p:sp>
        <p:nvSpPr>
          <p:cNvPr id="24" name="Shape 18"/>
          <p:cNvSpPr/>
          <p:nvPr/>
        </p:nvSpPr>
        <p:spPr>
          <a:xfrm>
            <a:off x="6395778" y="4136628"/>
            <a:ext cx="396865" cy="396875"/>
          </a:xfrm>
          <a:prstGeom prst="roundRect">
            <a:avLst>
              <a:gd name="adj" fmla="val 19198084"/>
            </a:avLst>
          </a:prstGeom>
          <a:solidFill>
            <a:srgbClr val="EEAEF6"/>
          </a:solidFill>
          <a:ln/>
        </p:spPr>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04916" y="4245769"/>
            <a:ext cx="178589" cy="178594"/>
          </a:xfrm>
          <a:prstGeom prst="rect">
            <a:avLst/>
          </a:prstGeom>
        </p:spPr>
      </p:pic>
      <p:sp>
        <p:nvSpPr>
          <p:cNvPr id="26" name="Text 19"/>
          <p:cNvSpPr/>
          <p:nvPr/>
        </p:nvSpPr>
        <p:spPr>
          <a:xfrm>
            <a:off x="6395778" y="4626074"/>
            <a:ext cx="1653836" cy="206673"/>
          </a:xfrm>
          <a:prstGeom prst="rect">
            <a:avLst/>
          </a:prstGeom>
          <a:noFill/>
          <a:ln/>
        </p:spPr>
        <p:txBody>
          <a:bodyPr wrap="none" lIns="0" tIns="0" rIns="0" bIns="0" rtlCol="0" anchor="t"/>
          <a:lstStyle/>
          <a:p>
            <a:pPr marL="0" indent="0" algn="l">
              <a:lnSpc>
                <a:spcPct val="104000"/>
              </a:lnSpc>
              <a:buNone/>
            </a:pPr>
            <a:r>
              <a:rPr lang="en-US" sz="1300" dirty="0">
                <a:solidFill>
                  <a:srgbClr val="E5DCE6"/>
                </a:solidFill>
                <a:latin typeface="Bricolage Grotesque ExtraBold" pitchFamily="34" charset="0"/>
                <a:ea typeface="Bricolage Grotesque ExtraBold" pitchFamily="34" charset="-122"/>
                <a:cs typeface="Bricolage Grotesque ExtraBold" pitchFamily="34" charset="-120"/>
              </a:rPr>
              <a:t>Browser Extension</a:t>
            </a:r>
            <a:endParaRPr lang="en-US" sz="1300" dirty="0"/>
          </a:p>
        </p:txBody>
      </p:sp>
      <p:sp>
        <p:nvSpPr>
          <p:cNvPr id="27" name="Shape 20"/>
          <p:cNvSpPr/>
          <p:nvPr/>
        </p:nvSpPr>
        <p:spPr>
          <a:xfrm>
            <a:off x="8946331" y="4004370"/>
            <a:ext cx="2590239" cy="960636"/>
          </a:xfrm>
          <a:prstGeom prst="roundRect">
            <a:avLst>
              <a:gd name="adj" fmla="val 5785"/>
            </a:avLst>
          </a:prstGeom>
          <a:solidFill>
            <a:srgbClr val="282D5E"/>
          </a:solidFill>
          <a:ln/>
        </p:spPr>
      </p:sp>
      <p:sp>
        <p:nvSpPr>
          <p:cNvPr id="28" name="Shape 21"/>
          <p:cNvSpPr/>
          <p:nvPr/>
        </p:nvSpPr>
        <p:spPr>
          <a:xfrm>
            <a:off x="9078586" y="4136628"/>
            <a:ext cx="396865" cy="396875"/>
          </a:xfrm>
          <a:prstGeom prst="roundRect">
            <a:avLst>
              <a:gd name="adj" fmla="val 19198084"/>
            </a:avLst>
          </a:prstGeom>
          <a:solidFill>
            <a:srgbClr val="EEAEF6"/>
          </a:solidFill>
          <a:ln/>
        </p:spPr>
      </p:sp>
      <p:pic>
        <p:nvPicPr>
          <p:cNvPr id="2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87724" y="4245769"/>
            <a:ext cx="178589" cy="178594"/>
          </a:xfrm>
          <a:prstGeom prst="rect">
            <a:avLst/>
          </a:prstGeom>
        </p:spPr>
      </p:pic>
      <p:sp>
        <p:nvSpPr>
          <p:cNvPr id="30" name="Text 22"/>
          <p:cNvSpPr/>
          <p:nvPr/>
        </p:nvSpPr>
        <p:spPr>
          <a:xfrm>
            <a:off x="9078586" y="4626074"/>
            <a:ext cx="1653836" cy="206673"/>
          </a:xfrm>
          <a:prstGeom prst="rect">
            <a:avLst/>
          </a:prstGeom>
          <a:noFill/>
          <a:ln/>
        </p:spPr>
        <p:txBody>
          <a:bodyPr wrap="none" lIns="0" tIns="0" rIns="0" bIns="0" rtlCol="0" anchor="t"/>
          <a:lstStyle/>
          <a:p>
            <a:pPr marL="0" indent="0" algn="l">
              <a:lnSpc>
                <a:spcPct val="104000"/>
              </a:lnSpc>
              <a:buNone/>
            </a:pPr>
            <a:r>
              <a:rPr lang="en-US" sz="1300" dirty="0">
                <a:solidFill>
                  <a:srgbClr val="E5DCE6"/>
                </a:solidFill>
                <a:latin typeface="Bricolage Grotesque ExtraBold" pitchFamily="34" charset="0"/>
                <a:ea typeface="Bricolage Grotesque ExtraBold" pitchFamily="34" charset="-122"/>
                <a:cs typeface="Bricolage Grotesque ExtraBold" pitchFamily="34" charset="-120"/>
              </a:rPr>
              <a:t>Mobile Application</a:t>
            </a:r>
            <a:endParaRPr lang="en-US" sz="1300" dirty="0"/>
          </a:p>
        </p:txBody>
      </p:sp>
      <p:sp>
        <p:nvSpPr>
          <p:cNvPr id="31" name="Shape 23"/>
          <p:cNvSpPr/>
          <p:nvPr/>
        </p:nvSpPr>
        <p:spPr>
          <a:xfrm>
            <a:off x="6263523" y="5057577"/>
            <a:ext cx="2590239" cy="960636"/>
          </a:xfrm>
          <a:prstGeom prst="roundRect">
            <a:avLst>
              <a:gd name="adj" fmla="val 5785"/>
            </a:avLst>
          </a:prstGeom>
          <a:solidFill>
            <a:srgbClr val="282D5E"/>
          </a:solidFill>
          <a:ln/>
        </p:spPr>
      </p:sp>
      <p:sp>
        <p:nvSpPr>
          <p:cNvPr id="32" name="Shape 24"/>
          <p:cNvSpPr/>
          <p:nvPr/>
        </p:nvSpPr>
        <p:spPr>
          <a:xfrm>
            <a:off x="6395778" y="5189835"/>
            <a:ext cx="396865" cy="396875"/>
          </a:xfrm>
          <a:prstGeom prst="roundRect">
            <a:avLst>
              <a:gd name="adj" fmla="val 19198084"/>
            </a:avLst>
          </a:prstGeom>
          <a:solidFill>
            <a:srgbClr val="EEAEF6"/>
          </a:solidFill>
          <a:ln/>
        </p:spPr>
      </p:sp>
      <p:pic>
        <p:nvPicPr>
          <p:cNvPr id="33"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504916" y="5298976"/>
            <a:ext cx="178589" cy="178594"/>
          </a:xfrm>
          <a:prstGeom prst="rect">
            <a:avLst/>
          </a:prstGeom>
        </p:spPr>
      </p:pic>
      <p:sp>
        <p:nvSpPr>
          <p:cNvPr id="34" name="Text 25"/>
          <p:cNvSpPr/>
          <p:nvPr/>
        </p:nvSpPr>
        <p:spPr>
          <a:xfrm>
            <a:off x="6395778" y="5679281"/>
            <a:ext cx="1958331" cy="206673"/>
          </a:xfrm>
          <a:prstGeom prst="rect">
            <a:avLst/>
          </a:prstGeom>
          <a:noFill/>
          <a:ln/>
        </p:spPr>
        <p:txBody>
          <a:bodyPr wrap="none" lIns="0" tIns="0" rIns="0" bIns="0" rtlCol="0" anchor="t"/>
          <a:lstStyle/>
          <a:p>
            <a:pPr marL="0" indent="0" algn="l">
              <a:lnSpc>
                <a:spcPct val="104000"/>
              </a:lnSpc>
              <a:buNone/>
            </a:pPr>
            <a:r>
              <a:rPr lang="en-US" sz="1300" dirty="0">
                <a:solidFill>
                  <a:srgbClr val="E5DCE6"/>
                </a:solidFill>
                <a:latin typeface="Bricolage Grotesque ExtraBold" pitchFamily="34" charset="0"/>
                <a:ea typeface="Bricolage Grotesque ExtraBold" pitchFamily="34" charset="-122"/>
                <a:cs typeface="Bricolage Grotesque ExtraBold" pitchFamily="34" charset="-120"/>
              </a:rPr>
              <a:t>Price Drop Notifications</a:t>
            </a:r>
            <a:endParaRPr lang="en-US" sz="1300" dirty="0"/>
          </a:p>
        </p:txBody>
      </p:sp>
      <p:sp>
        <p:nvSpPr>
          <p:cNvPr id="35" name="Shape 26"/>
          <p:cNvSpPr/>
          <p:nvPr/>
        </p:nvSpPr>
        <p:spPr>
          <a:xfrm>
            <a:off x="8946331" y="5057577"/>
            <a:ext cx="2590239" cy="960636"/>
          </a:xfrm>
          <a:prstGeom prst="roundRect">
            <a:avLst>
              <a:gd name="adj" fmla="val 5785"/>
            </a:avLst>
          </a:prstGeom>
          <a:solidFill>
            <a:srgbClr val="282D5E"/>
          </a:solidFill>
          <a:ln/>
        </p:spPr>
      </p:sp>
      <p:sp>
        <p:nvSpPr>
          <p:cNvPr id="36" name="Shape 27"/>
          <p:cNvSpPr/>
          <p:nvPr/>
        </p:nvSpPr>
        <p:spPr>
          <a:xfrm>
            <a:off x="9078586" y="5189835"/>
            <a:ext cx="396865" cy="396875"/>
          </a:xfrm>
          <a:prstGeom prst="roundRect">
            <a:avLst>
              <a:gd name="adj" fmla="val 19198084"/>
            </a:avLst>
          </a:prstGeom>
          <a:solidFill>
            <a:srgbClr val="EEAEF6"/>
          </a:solidFill>
          <a:ln/>
        </p:spPr>
      </p:sp>
      <p:pic>
        <p:nvPicPr>
          <p:cNvPr id="37"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187724" y="5298976"/>
            <a:ext cx="178589" cy="178594"/>
          </a:xfrm>
          <a:prstGeom prst="rect">
            <a:avLst/>
          </a:prstGeom>
        </p:spPr>
      </p:pic>
      <p:sp>
        <p:nvSpPr>
          <p:cNvPr id="38" name="Text 28"/>
          <p:cNvSpPr/>
          <p:nvPr/>
        </p:nvSpPr>
        <p:spPr>
          <a:xfrm>
            <a:off x="9078586" y="5679281"/>
            <a:ext cx="1653836" cy="206673"/>
          </a:xfrm>
          <a:prstGeom prst="rect">
            <a:avLst/>
          </a:prstGeom>
          <a:noFill/>
          <a:ln/>
        </p:spPr>
        <p:txBody>
          <a:bodyPr wrap="none" lIns="0" tIns="0" rIns="0" bIns="0" rtlCol="0" anchor="t"/>
          <a:lstStyle/>
          <a:p>
            <a:pPr marL="0" indent="0" algn="l">
              <a:lnSpc>
                <a:spcPct val="104000"/>
              </a:lnSpc>
              <a:buNone/>
            </a:pPr>
            <a:r>
              <a:rPr lang="en-US" sz="1300" dirty="0">
                <a:solidFill>
                  <a:srgbClr val="E5DCE6"/>
                </a:solidFill>
                <a:latin typeface="Bricolage Grotesque ExtraBold" pitchFamily="34" charset="0"/>
                <a:ea typeface="Bricolage Grotesque ExtraBold" pitchFamily="34" charset="-122"/>
                <a:cs typeface="Bricolage Grotesque ExtraBold" pitchFamily="34" charset="-120"/>
              </a:rPr>
              <a:t>Wishlist Tracking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1858</TotalTime>
  <Words>585</Words>
  <Application>Microsoft Office PowerPoint</Application>
  <PresentationFormat>Widescreen</PresentationFormat>
  <Paragraphs>94</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Bricolage Grotesque ExtraBold</vt:lpstr>
      <vt:lpstr>Bricolage Grotesque Light</vt:lpstr>
      <vt:lpstr>Arial</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ishaan kulkarni</cp:lastModifiedBy>
  <cp:revision>4</cp:revision>
  <dcterms:created xsi:type="dcterms:W3CDTF">2026-06-05T10:35:47Z</dcterms:created>
  <dcterms:modified xsi:type="dcterms:W3CDTF">2026-06-18T18:02:27Z</dcterms:modified>
</cp:coreProperties>
</file>